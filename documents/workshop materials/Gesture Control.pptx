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Lst>
  <p:sldSz cx="9144000" cy="5143500" type="screen16x9"/>
  <p:notesSz cx="6858000" cy="9144000"/>
  <p:embeddedFontLst>
    <p:embeddedFont>
      <p:font typeface="Nunito" pitchFamily="2" charset="0"/>
      <p:regular r:id="rId20"/>
      <p:bold r:id="rId21"/>
      <p:italic r:id="rId22"/>
      <p:boldItalic r:id="rId23"/>
    </p:embeddedFont>
    <p:embeddedFont>
      <p:font typeface="Roboto Mono" panose="00000009000000000000" pitchFamily="49"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7650F8B-F8A1-49CA-A5CC-8E7D228623E7}">
  <a:tblStyle styleId="{F7650F8B-F8A1-49CA-A5CC-8E7D228623E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420"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Hello and welcome to gesture control! A website that use ai hand tracking technology to help you with the ASL alphabet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9c7d192faa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9c7d192fa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9bdd4559bd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9bdd4559bd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Anyone can join TAP whether you’re an experienced programmer or technologically illiterate anyone can join.</a:t>
            </a:r>
            <a:endParaRPr/>
          </a:p>
          <a:p>
            <a:pPr marL="457200" lvl="0" indent="-298450" algn="l" rtl="0">
              <a:spcBef>
                <a:spcPts val="0"/>
              </a:spcBef>
              <a:spcAft>
                <a:spcPts val="0"/>
              </a:spcAft>
              <a:buSzPts val="1100"/>
              <a:buChar char="-"/>
            </a:pPr>
            <a:r>
              <a:rPr lang="en"/>
              <a:t>During their semester students will be in groups and turn one of their ideas into a project </a:t>
            </a:r>
            <a:endParaRPr/>
          </a:p>
          <a:p>
            <a:pPr marL="457200" lvl="0" indent="-298450" algn="l" rtl="0">
              <a:spcBef>
                <a:spcPts val="0"/>
              </a:spcBef>
              <a:spcAft>
                <a:spcPts val="0"/>
              </a:spcAft>
              <a:buSzPts val="1100"/>
              <a:buChar char="-"/>
            </a:pPr>
            <a:r>
              <a:rPr lang="en"/>
              <a:t>You will also be developing your soft skills because they’re just as important as your technical skills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9bdd4559bd_0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9bdd4559bd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9ea2e1c316_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9ea2e1c316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‘Supervised’ meaning the algorithm learns from a dataset with each data point being labeled. </a:t>
            </a:r>
            <a:endParaRPr/>
          </a:p>
          <a:p>
            <a:pPr marL="457200" lvl="0" indent="-298450" algn="l" rtl="0">
              <a:spcBef>
                <a:spcPts val="0"/>
              </a:spcBef>
              <a:spcAft>
                <a:spcPts val="0"/>
              </a:spcAft>
              <a:buSzPts val="1100"/>
              <a:buChar char="-"/>
            </a:pPr>
            <a:r>
              <a:rPr lang="en"/>
              <a:t>K=3, so the nearest 3 data points (‘neighbors’) are used for grading. </a:t>
            </a:r>
            <a:endParaRPr/>
          </a:p>
          <a:p>
            <a:pPr marL="457200" lvl="0" indent="-298450" algn="l" rtl="0">
              <a:spcBef>
                <a:spcPts val="0"/>
              </a:spcBef>
              <a:spcAft>
                <a:spcPts val="0"/>
              </a:spcAft>
              <a:buSzPts val="1100"/>
              <a:buChar char="-"/>
            </a:pPr>
            <a:r>
              <a:rPr lang="en"/>
              <a:t>Explain ‘neighbors’</a:t>
            </a:r>
            <a:endParaRPr/>
          </a:p>
          <a:p>
            <a:pPr marL="457200" lvl="0" indent="-298450" algn="l" rtl="0">
              <a:spcBef>
                <a:spcPts val="0"/>
              </a:spcBef>
              <a:spcAft>
                <a:spcPts val="0"/>
              </a:spcAft>
              <a:buSzPts val="1100"/>
              <a:buChar char="-"/>
            </a:pPr>
            <a:r>
              <a:rPr lang="en"/>
              <a:t>We only have around 20 samples per letter, so the model is not very accurate, and you can’t get a high grade.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9bdd4559bd_0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9bdd4559bd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You’d type in a word, in this case ‘APPLE’ and it will open up the webcam. The user’s hand would come into frame, and they would have to sign each letter one by one (with spacebar making the program move to the next letter).</a:t>
            </a:r>
            <a:endParaRPr/>
          </a:p>
          <a:p>
            <a:pPr marL="45720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6fbba140c5_2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6fbba140c5_2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solidFill>
                  <a:schemeClr val="dk1"/>
                </a:solidFill>
              </a:rPr>
              <a:t>‘Supervised’ meaning the algorithm learns from a dataset with each data point being labeled.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It takes a new data point (say in this case, your hand as it comes into frame) and compares it to the data stored in the database.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It will classify the new data point when compared to the closest values in the dataset, in this case, predict what letter you are trying to sign.</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a06e3e05ce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a06e3e05ce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Our AI doesn’t actually </a:t>
            </a:r>
            <a:r>
              <a:rPr lang="en" i="1">
                <a:solidFill>
                  <a:schemeClr val="dk1"/>
                </a:solidFill>
              </a:rPr>
              <a:t>see</a:t>
            </a:r>
            <a:r>
              <a:rPr lang="en">
                <a:solidFill>
                  <a:schemeClr val="dk1"/>
                </a:solidFill>
              </a:rPr>
              <a:t> a picture like humans. It only tracks 21 hand keypoints.</a:t>
            </a:r>
            <a:br>
              <a:rPr lang="en">
                <a:solidFill>
                  <a:schemeClr val="dk1"/>
                </a:solidFill>
              </a:rPr>
            </a:b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It analyzes the geometry of these points and makes its best guess for the gesture.</a:t>
            </a:r>
            <a:br>
              <a:rPr lang="en">
                <a:solidFill>
                  <a:schemeClr val="dk1"/>
                </a:solidFill>
              </a:rPr>
            </a:b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If the points are unclear or the confidence is low, we simply ignore that frame.</a:t>
            </a:r>
            <a:br>
              <a:rPr lang="en">
                <a:solidFill>
                  <a:schemeClr val="dk1"/>
                </a:solidFill>
              </a:rPr>
            </a:br>
            <a:endParaRPr>
              <a:solidFill>
                <a:schemeClr val="dk1"/>
              </a:solidFill>
            </a:endParaRPr>
          </a:p>
          <a:p>
            <a:pPr marL="0" lvl="0" indent="0" algn="l" rtl="0">
              <a:spcBef>
                <a:spcPts val="0"/>
              </a:spcBef>
              <a:spcAft>
                <a:spcPts val="0"/>
              </a:spcAft>
              <a:buNone/>
            </a:pPr>
            <a:r>
              <a:rPr lang="en">
                <a:solidFill>
                  <a:schemeClr val="dk1"/>
                </a:solidFill>
              </a:rPr>
              <a:t>So AI is smart, but it also doubts itself — and we only trust it when it’s confident.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a04e56586a_2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a04e56586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Here you can see our real-time hand tracking, where the model detects 21 keypoints.</a:t>
            </a:r>
            <a:br>
              <a:rPr lang="en"/>
            </a:br>
            <a:endParaRPr/>
          </a:p>
          <a:p>
            <a:pPr marL="0" lvl="0" indent="0" algn="l" rtl="0">
              <a:spcBef>
                <a:spcPts val="0"/>
              </a:spcBef>
              <a:spcAft>
                <a:spcPts val="0"/>
              </a:spcAft>
              <a:buClr>
                <a:schemeClr val="dk1"/>
              </a:buClr>
              <a:buSzPts val="1100"/>
              <a:buFont typeface="Arial"/>
              <a:buNone/>
            </a:pPr>
            <a:r>
              <a:rPr lang="en"/>
              <a:t>These small green dots are the only information the AI uses to understand gestures.</a:t>
            </a:r>
            <a:br>
              <a:rPr lang="en"/>
            </a:br>
            <a:endParaRPr/>
          </a:p>
          <a:p>
            <a:pPr marL="0" lvl="0" indent="0" algn="l" rtl="0">
              <a:spcBef>
                <a:spcPts val="0"/>
              </a:spcBef>
              <a:spcAft>
                <a:spcPts val="0"/>
              </a:spcAft>
              <a:buClr>
                <a:schemeClr val="dk1"/>
              </a:buClr>
              <a:buSzPts val="1100"/>
              <a:buFont typeface="Arial"/>
              <a:buNone/>
            </a:pPr>
            <a:r>
              <a:rPr lang="en"/>
              <a:t>In the top-right, the confidence is only 33%, meaning the AI is unsure.</a:t>
            </a:r>
            <a:br>
              <a:rPr lang="en"/>
            </a:br>
            <a:endParaRPr/>
          </a:p>
          <a:p>
            <a:pPr marL="0" lvl="0" indent="0" algn="l" rtl="0">
              <a:spcBef>
                <a:spcPts val="0"/>
              </a:spcBef>
              <a:spcAft>
                <a:spcPts val="0"/>
              </a:spcAft>
              <a:buNone/>
            </a:pPr>
            <a:r>
              <a:rPr lang="en"/>
              <a:t>Whenever the points are unstable or unclear, the system filters that frame out.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a06e3e05ce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a06e3e05ce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AI returns its results in JSON format — basically a coding version of an Excel sheet.</a:t>
            </a:r>
            <a:br>
              <a:rPr lang="en">
                <a:solidFill>
                  <a:schemeClr val="dk1"/>
                </a:solidFill>
              </a:rPr>
            </a:b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It includes what the AI predicted, what we expected, the confidence level, and all 21 keypoints.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 confidence of 0.33 means the AI is saying, ‘I’m not sure.’</a:t>
            </a:r>
            <a:br>
              <a:rPr lang="en">
                <a:solidFill>
                  <a:schemeClr val="dk1"/>
                </a:solidFill>
              </a:rPr>
            </a:b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If </a:t>
            </a:r>
            <a:r>
              <a:rPr lang="en">
                <a:solidFill>
                  <a:srgbClr val="188038"/>
                </a:solidFill>
                <a:latin typeface="Roboto Mono"/>
                <a:ea typeface="Roboto Mono"/>
                <a:cs typeface="Roboto Mono"/>
                <a:sym typeface="Roboto Mono"/>
              </a:rPr>
              <a:t>landmarks_ok</a:t>
            </a:r>
            <a:r>
              <a:rPr lang="en">
                <a:solidFill>
                  <a:schemeClr val="dk1"/>
                </a:solidFill>
              </a:rPr>
              <a:t> is false, the hand points weren’t clear, so we don’t trust that frame.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a06e3e05ce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a06e3e05ce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We don’t trust every frame — the system checks three things before showing a result.</a:t>
            </a:r>
            <a:br>
              <a:rPr lang="en"/>
            </a:br>
            <a:r>
              <a:rPr lang="en"/>
              <a:t>First is quality: if visibility is below 0.4, we ignore that frame.</a:t>
            </a:r>
            <a:br>
              <a:rPr lang="en"/>
            </a:br>
            <a:endParaRPr/>
          </a:p>
          <a:p>
            <a:pPr marL="0" lvl="0" indent="0" algn="l" rtl="0">
              <a:spcBef>
                <a:spcPts val="0"/>
              </a:spcBef>
              <a:spcAft>
                <a:spcPts val="0"/>
              </a:spcAft>
              <a:buClr>
                <a:schemeClr val="dk1"/>
              </a:buClr>
              <a:buSzPts val="1100"/>
              <a:buFont typeface="Arial"/>
              <a:buNone/>
            </a:pPr>
            <a:r>
              <a:rPr lang="en"/>
              <a:t>Second is confidence: if it’s under 0.6, we hide the prediction.</a:t>
            </a:r>
            <a:br>
              <a:rPr lang="en"/>
            </a:br>
            <a:endParaRPr/>
          </a:p>
          <a:p>
            <a:pPr marL="0" lvl="0" indent="0" algn="l" rtl="0">
              <a:spcBef>
                <a:spcPts val="0"/>
              </a:spcBef>
              <a:spcAft>
                <a:spcPts val="0"/>
              </a:spcAft>
              <a:buClr>
                <a:schemeClr val="dk1"/>
              </a:buClr>
              <a:buSzPts val="1100"/>
              <a:buFont typeface="Arial"/>
              <a:buNone/>
            </a:pPr>
            <a:r>
              <a:rPr lang="en"/>
              <a:t>Third is time stability: the same gesture must appear across multiple frames.</a:t>
            </a:r>
            <a:br>
              <a:rPr lang="en"/>
            </a:br>
            <a:endParaRPr/>
          </a:p>
          <a:p>
            <a:pPr marL="0" lvl="0" indent="0" algn="l" rtl="0">
              <a:spcBef>
                <a:spcPts val="0"/>
              </a:spcBef>
              <a:spcAft>
                <a:spcPts val="0"/>
              </a:spcAft>
              <a:buClr>
                <a:schemeClr val="dk1"/>
              </a:buClr>
              <a:buSzPts val="1100"/>
              <a:buFont typeface="Arial"/>
              <a:buNone/>
            </a:pPr>
            <a:r>
              <a:rPr lang="en"/>
              <a:t>One lucky guess doesn’t count as a real answer.</a:t>
            </a:r>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a04e56586a_2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a04e56586a_2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There are two common ways for humans and AI to communicate: HTTP or WebSocket.</a:t>
            </a:r>
            <a:endParaRPr/>
          </a:p>
          <a:p>
            <a:pPr marL="0" lvl="0" indent="0" algn="l" rtl="0">
              <a:spcBef>
                <a:spcPts val="0"/>
              </a:spcBef>
              <a:spcAft>
                <a:spcPts val="0"/>
              </a:spcAft>
              <a:buClr>
                <a:schemeClr val="dk1"/>
              </a:buClr>
              <a:buSzPts val="1100"/>
              <a:buFont typeface="Arial"/>
              <a:buNone/>
            </a:pPr>
            <a:r>
              <a:rPr lang="en"/>
              <a:t>HTTP is like an old phone call — one request, one response, then the connection closes.</a:t>
            </a:r>
            <a:br>
              <a:rPr lang="en"/>
            </a:br>
            <a:endParaRPr/>
          </a:p>
          <a:p>
            <a:pPr marL="0" lvl="0" indent="0" algn="l" rtl="0">
              <a:spcBef>
                <a:spcPts val="0"/>
              </a:spcBef>
              <a:spcAft>
                <a:spcPts val="0"/>
              </a:spcAft>
              <a:buClr>
                <a:schemeClr val="dk1"/>
              </a:buClr>
              <a:buSzPts val="1100"/>
              <a:buFont typeface="Arial"/>
              <a:buNone/>
            </a:pPr>
            <a:r>
              <a:rPr lang="en"/>
              <a:t>It works well for simple tasks like forms or loading pages.</a:t>
            </a:r>
            <a:br>
              <a:rPr lang="en"/>
            </a:br>
            <a:endParaRPr/>
          </a:p>
          <a:p>
            <a:pPr marL="0" lvl="0" indent="0" algn="l" rtl="0">
              <a:spcBef>
                <a:spcPts val="0"/>
              </a:spcBef>
              <a:spcAft>
                <a:spcPts val="0"/>
              </a:spcAft>
              <a:buClr>
                <a:schemeClr val="dk1"/>
              </a:buClr>
              <a:buSzPts val="1100"/>
              <a:buFont typeface="Arial"/>
              <a:buNone/>
            </a:pPr>
            <a:r>
              <a:rPr lang="en"/>
              <a:t>But for real-time gesture tracking, HTTP is too slow and too disconnected.</a:t>
            </a:r>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a06e3e05ce_1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a06e3e05ce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WebSocket works more like a continuous call — connect once, and stay connected.</a:t>
            </a:r>
            <a:br>
              <a:rPr lang="en"/>
            </a:br>
            <a:r>
              <a:rPr lang="en"/>
              <a:t>Client and server can send messages anytime, in both directions.</a:t>
            </a:r>
            <a:endParaRPr/>
          </a:p>
          <a:p>
            <a:pPr marL="0" lvl="0" indent="0" algn="l" rtl="0">
              <a:spcBef>
                <a:spcPts val="0"/>
              </a:spcBef>
              <a:spcAft>
                <a:spcPts val="0"/>
              </a:spcAft>
              <a:buClr>
                <a:schemeClr val="dk1"/>
              </a:buClr>
              <a:buSzPts val="1100"/>
              <a:buFont typeface="Arial"/>
              <a:buNone/>
            </a:pPr>
            <a:r>
              <a:rPr lang="en"/>
              <a:t>This makes it perfect for real-time apps like games, video chat, and gesture tracking.</a:t>
            </a:r>
            <a:br>
              <a:rPr lang="en"/>
            </a:br>
            <a:endParaRPr/>
          </a:p>
          <a:p>
            <a:pPr marL="0" lvl="0" indent="0" algn="l" rtl="0">
              <a:spcBef>
                <a:spcPts val="0"/>
              </a:spcBef>
              <a:spcAft>
                <a:spcPts val="0"/>
              </a:spcAft>
              <a:buClr>
                <a:schemeClr val="dk1"/>
              </a:buClr>
              <a:buSzPts val="1100"/>
              <a:buFont typeface="Arial"/>
              <a:buNone/>
            </a:pPr>
            <a:r>
              <a:rPr lang="en"/>
              <a:t>Since our camera sends many frames per second, WebSocket gives us the speed we need.</a:t>
            </a:r>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a06e3e05ce_1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a06e3e05ce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9bdd4559bd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9bdd4559bd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9e5a0d62b6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9e5a0d62b6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预测=Predict：what I am trying to sign; 信心=Confidence: how similar that is to the standard sign</a:t>
            </a:r>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9bdd4559bd_0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9bdd4559bd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hyperlink" Target="https://mediapipe-studio.webapps.google.com/studio/demo/hand_landmarker"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esture-control-xli6.onrender.com" TargetMode="External"/><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4"/>
          <p:cNvSpPr txBox="1">
            <a:spLocks noGrp="1"/>
          </p:cNvSpPr>
          <p:nvPr>
            <p:ph type="subTitle" idx="1"/>
          </p:nvPr>
        </p:nvSpPr>
        <p:spPr>
          <a:xfrm>
            <a:off x="1749450" y="4118898"/>
            <a:ext cx="5645100" cy="645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i="1"/>
              <a:t>Ivana Hernandez, Keren Zhang, Joey Chen</a:t>
            </a:r>
            <a:endParaRPr i="1"/>
          </a:p>
        </p:txBody>
      </p:sp>
      <p:pic>
        <p:nvPicPr>
          <p:cNvPr id="136" name="Google Shape;136;p14" title="p1 (1).png"/>
          <p:cNvPicPr preferRelativeResize="0"/>
          <p:nvPr/>
        </p:nvPicPr>
        <p:blipFill>
          <a:blip r:embed="rId3">
            <a:alphaModFix/>
          </a:blip>
          <a:stretch>
            <a:fillRect/>
          </a:stretch>
        </p:blipFill>
        <p:spPr>
          <a:xfrm>
            <a:off x="2615250" y="442975"/>
            <a:ext cx="3913476" cy="39134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5"/>
          <p:cNvSpPr txBox="1">
            <a:spLocks noGrp="1"/>
          </p:cNvSpPr>
          <p:nvPr>
            <p:ph type="title"/>
          </p:nvPr>
        </p:nvSpPr>
        <p:spPr>
          <a:xfrm>
            <a:off x="819150" y="744525"/>
            <a:ext cx="7505700" cy="982200"/>
          </a:xfrm>
          <a:prstGeom prst="rect">
            <a:avLst/>
          </a:prstGeom>
          <a:effectLst>
            <a:outerShdw blurRad="57150" dist="19050" dir="5400000" algn="bl" rotWithShape="0">
              <a:srgbClr val="FFD966">
                <a:alpha val="50000"/>
              </a:srgbClr>
            </a:outerShdw>
          </a:effectLst>
        </p:spPr>
        <p:txBody>
          <a:bodyPr spcFirstLastPara="1" wrap="square" lIns="91425" tIns="91425" rIns="91425" bIns="91425" anchor="t" anchorCtr="0">
            <a:normAutofit/>
          </a:bodyPr>
          <a:lstStyle/>
          <a:p>
            <a:pPr marL="0" lvl="0" indent="0" algn="l" rtl="0">
              <a:spcBef>
                <a:spcPts val="0"/>
              </a:spcBef>
              <a:spcAft>
                <a:spcPts val="0"/>
              </a:spcAft>
              <a:buNone/>
            </a:pPr>
            <a:r>
              <a:rPr lang="en" sz="4000"/>
              <a:t>Meet Us</a:t>
            </a:r>
            <a:endParaRPr/>
          </a:p>
        </p:txBody>
      </p:sp>
      <p:sp>
        <p:nvSpPr>
          <p:cNvPr id="142" name="Google Shape;142;p15"/>
          <p:cNvSpPr txBox="1">
            <a:spLocks noGrp="1"/>
          </p:cNvSpPr>
          <p:nvPr>
            <p:ph type="body" idx="1"/>
          </p:nvPr>
        </p:nvSpPr>
        <p:spPr>
          <a:xfrm>
            <a:off x="819150" y="1974850"/>
            <a:ext cx="5899800" cy="26682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400" b="1" u="sng"/>
              <a:t>Joey - Software Dev major</a:t>
            </a:r>
            <a:endParaRPr sz="1400" b="1" u="sng"/>
          </a:p>
          <a:p>
            <a:pPr marL="0" lvl="0" indent="0" algn="l" rtl="0">
              <a:spcBef>
                <a:spcPts val="1200"/>
              </a:spcBef>
              <a:spcAft>
                <a:spcPts val="0"/>
              </a:spcAft>
              <a:buNone/>
            </a:pPr>
            <a:r>
              <a:rPr lang="en" b="1" i="1">
                <a:solidFill>
                  <a:srgbClr val="666666"/>
                </a:solidFill>
              </a:rPr>
              <a:t>Worked on obtaining the required code for the project.</a:t>
            </a:r>
            <a:endParaRPr b="1"/>
          </a:p>
          <a:p>
            <a:pPr marL="0" lvl="0" indent="0" algn="l" rtl="0">
              <a:spcBef>
                <a:spcPts val="1200"/>
              </a:spcBef>
              <a:spcAft>
                <a:spcPts val="0"/>
              </a:spcAft>
              <a:buNone/>
            </a:pPr>
            <a:r>
              <a:rPr lang="en" sz="1400" b="1" u="sng"/>
              <a:t>Ivana - Software Dev major</a:t>
            </a:r>
            <a:endParaRPr sz="1400" b="1" u="sng"/>
          </a:p>
          <a:p>
            <a:pPr marL="0" lvl="0" indent="0" algn="l" rtl="0">
              <a:spcBef>
                <a:spcPts val="1200"/>
              </a:spcBef>
              <a:spcAft>
                <a:spcPts val="0"/>
              </a:spcAft>
              <a:buNone/>
            </a:pPr>
            <a:r>
              <a:rPr lang="en" b="1" i="1">
                <a:solidFill>
                  <a:srgbClr val="666666"/>
                </a:solidFill>
              </a:rPr>
              <a:t>Worked on/trained the AI and the grading system.</a:t>
            </a:r>
            <a:endParaRPr b="1" i="1">
              <a:solidFill>
                <a:srgbClr val="666666"/>
              </a:solidFill>
            </a:endParaRPr>
          </a:p>
          <a:p>
            <a:pPr marL="0" lvl="0" indent="0" algn="l" rtl="0">
              <a:spcBef>
                <a:spcPts val="1200"/>
              </a:spcBef>
              <a:spcAft>
                <a:spcPts val="0"/>
              </a:spcAft>
              <a:buNone/>
            </a:pPr>
            <a:r>
              <a:rPr lang="en" b="1" i="1">
                <a:solidFill>
                  <a:srgbClr val="666666"/>
                </a:solidFill>
              </a:rPr>
              <a:t>Drew the logo for Gesture Control and the EUS mascot</a:t>
            </a:r>
            <a:endParaRPr b="1">
              <a:solidFill>
                <a:srgbClr val="666666"/>
              </a:solidFill>
            </a:endParaRPr>
          </a:p>
          <a:p>
            <a:pPr marL="0" lvl="0" indent="0" algn="l" rtl="0">
              <a:spcBef>
                <a:spcPts val="1200"/>
              </a:spcBef>
              <a:spcAft>
                <a:spcPts val="0"/>
              </a:spcAft>
              <a:buNone/>
            </a:pPr>
            <a:r>
              <a:rPr lang="en" sz="1400" b="1" u="sng"/>
              <a:t>Keren - Data Science major</a:t>
            </a:r>
            <a:endParaRPr sz="1400" b="1" u="sng"/>
          </a:p>
          <a:p>
            <a:pPr marL="0" lvl="0" indent="0" algn="l" rtl="0">
              <a:spcBef>
                <a:spcPts val="1200"/>
              </a:spcBef>
              <a:spcAft>
                <a:spcPts val="1200"/>
              </a:spcAft>
              <a:buNone/>
            </a:pPr>
            <a:r>
              <a:rPr lang="en" b="1" i="1">
                <a:solidFill>
                  <a:srgbClr val="666666"/>
                </a:solidFill>
              </a:rPr>
              <a:t>Worked on integrating the code into a website with both front-end and back-end.</a:t>
            </a:r>
            <a:endParaRPr sz="1400" b="1" u="sng">
              <a:solidFill>
                <a:srgbClr val="666666"/>
              </a:solidFill>
            </a:endParaRPr>
          </a:p>
        </p:txBody>
      </p:sp>
      <p:pic>
        <p:nvPicPr>
          <p:cNvPr id="143" name="Google Shape;143;p15" title="EUS.png"/>
          <p:cNvPicPr preferRelativeResize="0"/>
          <p:nvPr/>
        </p:nvPicPr>
        <p:blipFill>
          <a:blip r:embed="rId3">
            <a:alphaModFix amt="25000"/>
          </a:blip>
          <a:stretch>
            <a:fillRect/>
          </a:stretch>
        </p:blipFill>
        <p:spPr>
          <a:xfrm>
            <a:off x="166700" y="190550"/>
            <a:ext cx="881026" cy="881026"/>
          </a:xfrm>
          <a:prstGeom prst="rect">
            <a:avLst/>
          </a:prstGeom>
          <a:noFill/>
          <a:ln>
            <a:noFill/>
          </a:ln>
        </p:spPr>
      </p:pic>
      <p:pic>
        <p:nvPicPr>
          <p:cNvPr id="144" name="Google Shape;144;p15" title="pifpt.gif"/>
          <p:cNvPicPr preferRelativeResize="0"/>
          <p:nvPr/>
        </p:nvPicPr>
        <p:blipFill>
          <a:blip r:embed="rId4">
            <a:alphaModFix/>
          </a:blip>
          <a:stretch>
            <a:fillRect/>
          </a:stretch>
        </p:blipFill>
        <p:spPr>
          <a:xfrm>
            <a:off x="5750175" y="588975"/>
            <a:ext cx="3112551" cy="3498077"/>
          </a:xfrm>
          <a:prstGeom prst="rect">
            <a:avLst/>
          </a:prstGeom>
          <a:noFill/>
          <a:ln>
            <a:noFill/>
          </a:ln>
        </p:spPr>
      </p:pic>
      <p:sp>
        <p:nvSpPr>
          <p:cNvPr id="145" name="Google Shape;145;p15"/>
          <p:cNvSpPr txBox="1">
            <a:spLocks noGrp="1"/>
          </p:cNvSpPr>
          <p:nvPr>
            <p:ph type="body" idx="1"/>
          </p:nvPr>
        </p:nvSpPr>
        <p:spPr>
          <a:xfrm>
            <a:off x="6406647" y="3890321"/>
            <a:ext cx="2126700" cy="664200"/>
          </a:xfrm>
          <a:prstGeom prst="rect">
            <a:avLst/>
          </a:prstGeom>
        </p:spPr>
        <p:txBody>
          <a:bodyPr spcFirstLastPara="1" wrap="square" lIns="102050" tIns="102050" rIns="102050" bIns="102050" anchor="t" anchorCtr="0">
            <a:normAutofit/>
          </a:bodyPr>
          <a:lstStyle/>
          <a:p>
            <a:pPr marL="0" lvl="0" indent="0" algn="ctr" rtl="0">
              <a:lnSpc>
                <a:spcPct val="105000"/>
              </a:lnSpc>
              <a:spcBef>
                <a:spcPts val="0"/>
              </a:spcBef>
              <a:spcAft>
                <a:spcPts val="1340"/>
              </a:spcAft>
              <a:buNone/>
            </a:pPr>
            <a:r>
              <a:rPr lang="en" sz="1227" i="1">
                <a:solidFill>
                  <a:srgbClr val="999999"/>
                </a:solidFill>
              </a:rPr>
              <a:t>Emu Unicorn Sauce mascot, animated by Ivana</a:t>
            </a:r>
            <a:endParaRPr sz="1227" i="1">
              <a:solidFill>
                <a:srgbClr val="999999"/>
              </a:solidFill>
            </a:endParaRPr>
          </a:p>
        </p:txBody>
      </p:sp>
      <p:sp>
        <p:nvSpPr>
          <p:cNvPr id="146" name="Google Shape;146;p15"/>
          <p:cNvSpPr txBox="1">
            <a:spLocks noGrp="1"/>
          </p:cNvSpPr>
          <p:nvPr>
            <p:ph type="title"/>
          </p:nvPr>
        </p:nvSpPr>
        <p:spPr>
          <a:xfrm>
            <a:off x="819150" y="1379650"/>
            <a:ext cx="7505700" cy="595200"/>
          </a:xfrm>
          <a:prstGeom prst="rect">
            <a:avLst/>
          </a:prstGeom>
          <a:effectLst>
            <a:outerShdw blurRad="57150" dist="19050" dir="5400000" algn="bl" rotWithShape="0">
              <a:srgbClr val="FFD966">
                <a:alpha val="50000"/>
              </a:srgb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 sz="2900" i="1">
                <a:solidFill>
                  <a:srgbClr val="D9BDA7"/>
                </a:solidFill>
              </a:rPr>
              <a:t>Emu Unicorn Sauce (EUS)</a:t>
            </a:r>
            <a:endParaRPr sz="2900" i="1">
              <a:solidFill>
                <a:srgbClr val="D9BDA7"/>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16" title="PXL_20251009_175855863.jpg"/>
          <p:cNvPicPr preferRelativeResize="0"/>
          <p:nvPr/>
        </p:nvPicPr>
        <p:blipFill>
          <a:blip r:embed="rId3">
            <a:alphaModFix/>
          </a:blip>
          <a:stretch>
            <a:fillRect/>
          </a:stretch>
        </p:blipFill>
        <p:spPr>
          <a:xfrm>
            <a:off x="3850875" y="190559"/>
            <a:ext cx="5106074" cy="2872166"/>
          </a:xfrm>
          <a:prstGeom prst="rect">
            <a:avLst/>
          </a:prstGeom>
          <a:noFill/>
          <a:ln>
            <a:noFill/>
          </a:ln>
        </p:spPr>
      </p:pic>
      <p:sp>
        <p:nvSpPr>
          <p:cNvPr id="152" name="Google Shape;152;p16"/>
          <p:cNvSpPr txBox="1">
            <a:spLocks noGrp="1"/>
          </p:cNvSpPr>
          <p:nvPr>
            <p:ph type="title"/>
          </p:nvPr>
        </p:nvSpPr>
        <p:spPr>
          <a:xfrm>
            <a:off x="819150" y="845600"/>
            <a:ext cx="2814900" cy="954600"/>
          </a:xfrm>
          <a:prstGeom prst="rect">
            <a:avLst/>
          </a:prstGeom>
          <a:effectLst>
            <a:outerShdw blurRad="57150" dist="19050" dir="5400000" algn="bl" rotWithShape="0">
              <a:srgbClr val="FFD966">
                <a:alpha val="50000"/>
              </a:srgbClr>
            </a:outerShdw>
          </a:effectLst>
        </p:spPr>
        <p:txBody>
          <a:bodyPr spcFirstLastPara="1" wrap="square" lIns="91425" tIns="91425" rIns="91425" bIns="91425" anchor="t" anchorCtr="0">
            <a:normAutofit/>
          </a:bodyPr>
          <a:lstStyle/>
          <a:p>
            <a:pPr marL="0" lvl="0" indent="0" algn="l" rtl="0">
              <a:spcBef>
                <a:spcPts val="0"/>
              </a:spcBef>
              <a:spcAft>
                <a:spcPts val="0"/>
              </a:spcAft>
              <a:buNone/>
            </a:pPr>
            <a:r>
              <a:rPr lang="en" sz="4000"/>
              <a:t>About TAP</a:t>
            </a:r>
            <a:endParaRPr sz="4000"/>
          </a:p>
        </p:txBody>
      </p:sp>
      <p:sp>
        <p:nvSpPr>
          <p:cNvPr id="153" name="Google Shape;153;p16"/>
          <p:cNvSpPr/>
          <p:nvPr/>
        </p:nvSpPr>
        <p:spPr>
          <a:xfrm>
            <a:off x="3390025" y="1870375"/>
            <a:ext cx="2712000" cy="1846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4" name="Google Shape;154;p16"/>
          <p:cNvSpPr txBox="1">
            <a:spLocks noGrp="1"/>
          </p:cNvSpPr>
          <p:nvPr>
            <p:ph type="body" idx="1"/>
          </p:nvPr>
        </p:nvSpPr>
        <p:spPr>
          <a:xfrm>
            <a:off x="819150" y="1870375"/>
            <a:ext cx="5315700" cy="2736600"/>
          </a:xfrm>
          <a:prstGeom prst="rect">
            <a:avLst/>
          </a:prstGeom>
        </p:spPr>
        <p:txBody>
          <a:bodyPr spcFirstLastPara="1" wrap="square" lIns="91425" tIns="91425" rIns="91425" bIns="0" anchor="t" anchorCtr="0">
            <a:normAutofit fontScale="92500" lnSpcReduction="20000"/>
          </a:bodyPr>
          <a:lstStyle/>
          <a:p>
            <a:pPr marL="457200" marR="0" lvl="0" indent="-310832" algn="l" rtl="0">
              <a:lnSpc>
                <a:spcPct val="150000"/>
              </a:lnSpc>
              <a:spcBef>
                <a:spcPts val="1000"/>
              </a:spcBef>
              <a:spcAft>
                <a:spcPts val="0"/>
              </a:spcAft>
              <a:buSzPct val="100000"/>
              <a:buChar char="❖"/>
            </a:pPr>
            <a:r>
              <a:rPr lang="en" sz="1400"/>
              <a:t>The </a:t>
            </a:r>
            <a:r>
              <a:rPr lang="en" sz="1400" i="1"/>
              <a:t>Technology Ambassador Program </a:t>
            </a:r>
            <a:r>
              <a:rPr lang="en" sz="1400"/>
              <a:t>(TAP) prioritizes simplifying technology in the view of the common eye, which is why anybody can enroll: from experienced programmers to the technologically illiterate.</a:t>
            </a:r>
            <a:endParaRPr sz="1400"/>
          </a:p>
          <a:p>
            <a:pPr marL="457200" marR="0" lvl="0" indent="-310832" algn="l" rtl="0">
              <a:lnSpc>
                <a:spcPct val="150000"/>
              </a:lnSpc>
              <a:spcBef>
                <a:spcPts val="1200"/>
              </a:spcBef>
              <a:spcAft>
                <a:spcPts val="0"/>
              </a:spcAft>
              <a:buSzPct val="100000"/>
              <a:buChar char="❖"/>
            </a:pPr>
            <a:r>
              <a:rPr lang="en" sz="1400"/>
              <a:t>Students will choose a project to work on during the semester and maintain motivation consistently to progress through all checkpoints.</a:t>
            </a:r>
            <a:endParaRPr sz="1400"/>
          </a:p>
          <a:p>
            <a:pPr marL="457200" marR="0" lvl="0" indent="-310832" algn="l" rtl="0">
              <a:lnSpc>
                <a:spcPct val="150000"/>
              </a:lnSpc>
              <a:spcBef>
                <a:spcPts val="1000"/>
              </a:spcBef>
              <a:spcAft>
                <a:spcPts val="1200"/>
              </a:spcAft>
              <a:buSzPct val="100000"/>
              <a:buChar char="❖"/>
            </a:pPr>
            <a:r>
              <a:rPr lang="en" sz="1400"/>
              <a:t>Outside the learning of technical skills needed to work on your project, TAP also leads to developing self-discipline and soft skills, which are arguably just as important!</a:t>
            </a:r>
            <a:endParaRPr/>
          </a:p>
        </p:txBody>
      </p:sp>
      <p:pic>
        <p:nvPicPr>
          <p:cNvPr id="155" name="Google Shape;155;p16" title="EUS.png"/>
          <p:cNvPicPr preferRelativeResize="0"/>
          <p:nvPr/>
        </p:nvPicPr>
        <p:blipFill>
          <a:blip r:embed="rId4">
            <a:alphaModFix amt="25000"/>
          </a:blip>
          <a:stretch>
            <a:fillRect/>
          </a:stretch>
        </p:blipFill>
        <p:spPr>
          <a:xfrm>
            <a:off x="166700" y="190550"/>
            <a:ext cx="881026" cy="881026"/>
          </a:xfrm>
          <a:prstGeom prst="rect">
            <a:avLst/>
          </a:prstGeom>
          <a:noFill/>
          <a:ln>
            <a:noFill/>
          </a:ln>
        </p:spPr>
      </p:pic>
      <p:sp>
        <p:nvSpPr>
          <p:cNvPr id="156" name="Google Shape;156;p16"/>
          <p:cNvSpPr txBox="1"/>
          <p:nvPr/>
        </p:nvSpPr>
        <p:spPr>
          <a:xfrm>
            <a:off x="6554050" y="3062725"/>
            <a:ext cx="20964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666666"/>
                </a:solidFill>
                <a:latin typeface="Calibri"/>
                <a:ea typeface="Calibri"/>
                <a:cs typeface="Calibri"/>
                <a:sym typeface="Calibri"/>
              </a:rPr>
              <a:t>Image from 10/10/25 TAP EXPO</a:t>
            </a:r>
            <a:endParaRPr sz="1100">
              <a:solidFill>
                <a:srgbClr val="66666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7"/>
          <p:cNvSpPr txBox="1">
            <a:spLocks noGrp="1"/>
          </p:cNvSpPr>
          <p:nvPr>
            <p:ph type="title"/>
          </p:nvPr>
        </p:nvSpPr>
        <p:spPr>
          <a:xfrm>
            <a:off x="819150" y="578400"/>
            <a:ext cx="2958900" cy="797400"/>
          </a:xfrm>
          <a:prstGeom prst="rect">
            <a:avLst/>
          </a:prstGeom>
          <a:effectLst>
            <a:outerShdw blurRad="57150" dist="19050" dir="5400000" algn="bl" rotWithShape="0">
              <a:srgbClr val="FFD966">
                <a:alpha val="50000"/>
              </a:srgbClr>
            </a:outerShdw>
          </a:effectLst>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en" sz="4000"/>
              <a:t>Our Goals</a:t>
            </a:r>
            <a:endParaRPr sz="4000"/>
          </a:p>
        </p:txBody>
      </p:sp>
      <p:sp>
        <p:nvSpPr>
          <p:cNvPr id="162" name="Google Shape;162;p17"/>
          <p:cNvSpPr txBox="1">
            <a:spLocks noGrp="1"/>
          </p:cNvSpPr>
          <p:nvPr>
            <p:ph type="body" idx="1"/>
          </p:nvPr>
        </p:nvSpPr>
        <p:spPr>
          <a:xfrm>
            <a:off x="739925" y="1276150"/>
            <a:ext cx="4953600" cy="3393300"/>
          </a:xfrm>
          <a:prstGeom prst="rect">
            <a:avLst/>
          </a:prstGeom>
        </p:spPr>
        <p:txBody>
          <a:bodyPr spcFirstLastPara="1" wrap="square" lIns="91425" tIns="91425" rIns="91425" bIns="91425" anchor="t" anchorCtr="0">
            <a:normAutofit/>
          </a:bodyPr>
          <a:lstStyle/>
          <a:p>
            <a:pPr marL="457200" marR="0" lvl="0" indent="-317500" algn="l" rtl="0">
              <a:lnSpc>
                <a:spcPct val="150000"/>
              </a:lnSpc>
              <a:spcBef>
                <a:spcPts val="1000"/>
              </a:spcBef>
              <a:spcAft>
                <a:spcPts val="0"/>
              </a:spcAft>
              <a:buSzPts val="1400"/>
              <a:buChar char="❖"/>
            </a:pPr>
            <a:r>
              <a:rPr lang="en" sz="1400"/>
              <a:t>Through </a:t>
            </a:r>
            <a:r>
              <a:rPr lang="en" sz="1400" i="1"/>
              <a:t>Gesture Control,</a:t>
            </a:r>
            <a:r>
              <a:rPr lang="en" sz="1400"/>
              <a:t> we can showcase a real-world use of AI through the idea of teaching sign language to the user.</a:t>
            </a:r>
            <a:endParaRPr sz="1400"/>
          </a:p>
          <a:p>
            <a:pPr marL="457200" marR="0" lvl="0" indent="-317500" algn="l" rtl="0">
              <a:lnSpc>
                <a:spcPct val="150000"/>
              </a:lnSpc>
              <a:spcBef>
                <a:spcPts val="1200"/>
              </a:spcBef>
              <a:spcAft>
                <a:spcPts val="0"/>
              </a:spcAft>
              <a:buSzPts val="1400"/>
              <a:buChar char="❖"/>
            </a:pPr>
            <a:r>
              <a:rPr lang="en" sz="1400"/>
              <a:t>Users will learn how to sign a given word by the individual letters in the </a:t>
            </a:r>
            <a:r>
              <a:rPr lang="en" sz="1400" i="1"/>
              <a:t>American Sign Language </a:t>
            </a:r>
            <a:r>
              <a:rPr lang="en" sz="1400"/>
              <a:t>(ASL); the program grades you on your accuracy.</a:t>
            </a:r>
            <a:endParaRPr sz="1400"/>
          </a:p>
          <a:p>
            <a:pPr marL="457200" marR="0" lvl="0" indent="-317500" algn="l" rtl="0">
              <a:lnSpc>
                <a:spcPct val="150000"/>
              </a:lnSpc>
              <a:spcBef>
                <a:spcPts val="1200"/>
              </a:spcBef>
              <a:spcAft>
                <a:spcPts val="1200"/>
              </a:spcAft>
              <a:buSzPts val="1400"/>
              <a:buChar char="❖"/>
            </a:pPr>
            <a:r>
              <a:rPr lang="en" sz="1400"/>
              <a:t>AI, especially outside of LLMs, may seem a little alien when compared to other forms of technology. Hopefully we can demystify AI, as this involves basic machine learning that anybody can learn.</a:t>
            </a:r>
            <a:endParaRPr sz="1400"/>
          </a:p>
        </p:txBody>
      </p:sp>
      <p:pic>
        <p:nvPicPr>
          <p:cNvPr id="163" name="Google Shape;163;p17" title="EUS.png"/>
          <p:cNvPicPr preferRelativeResize="0"/>
          <p:nvPr/>
        </p:nvPicPr>
        <p:blipFill>
          <a:blip r:embed="rId3">
            <a:alphaModFix amt="25000"/>
          </a:blip>
          <a:stretch>
            <a:fillRect/>
          </a:stretch>
        </p:blipFill>
        <p:spPr>
          <a:xfrm>
            <a:off x="166700" y="190550"/>
            <a:ext cx="881026" cy="881026"/>
          </a:xfrm>
          <a:prstGeom prst="rect">
            <a:avLst/>
          </a:prstGeom>
          <a:noFill/>
          <a:ln>
            <a:noFill/>
          </a:ln>
        </p:spPr>
      </p:pic>
      <p:pic>
        <p:nvPicPr>
          <p:cNvPr id="164" name="Google Shape;164;p17"/>
          <p:cNvPicPr preferRelativeResize="0"/>
          <p:nvPr/>
        </p:nvPicPr>
        <p:blipFill rotWithShape="1">
          <a:blip r:embed="rId4">
            <a:alphaModFix/>
          </a:blip>
          <a:srcRect l="30419" r="12742" b="19967"/>
          <a:stretch/>
        </p:blipFill>
        <p:spPr>
          <a:xfrm>
            <a:off x="5693500" y="1285363"/>
            <a:ext cx="3245276" cy="2572775"/>
          </a:xfrm>
          <a:prstGeom prst="rect">
            <a:avLst/>
          </a:prstGeom>
          <a:noFill/>
          <a:ln>
            <a:noFill/>
          </a:ln>
        </p:spPr>
      </p:pic>
      <p:sp>
        <p:nvSpPr>
          <p:cNvPr id="165" name="Google Shape;165;p17"/>
          <p:cNvSpPr txBox="1"/>
          <p:nvPr/>
        </p:nvSpPr>
        <p:spPr>
          <a:xfrm>
            <a:off x="6267938" y="3858150"/>
            <a:ext cx="20964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666666"/>
                </a:solidFill>
                <a:latin typeface="Calibri"/>
                <a:ea typeface="Calibri"/>
                <a:cs typeface="Calibri"/>
                <a:sym typeface="Calibri"/>
              </a:rPr>
              <a:t>Image from 10/10/25 TAP EXPO</a:t>
            </a:r>
            <a:endParaRPr sz="1100">
              <a:solidFill>
                <a:srgbClr val="66666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8"/>
          <p:cNvSpPr txBox="1">
            <a:spLocks noGrp="1"/>
          </p:cNvSpPr>
          <p:nvPr>
            <p:ph type="title"/>
          </p:nvPr>
        </p:nvSpPr>
        <p:spPr>
          <a:xfrm>
            <a:off x="944800" y="737750"/>
            <a:ext cx="5845500" cy="745500"/>
          </a:xfrm>
          <a:prstGeom prst="rect">
            <a:avLst/>
          </a:prstGeom>
          <a:effectLst>
            <a:outerShdw blurRad="57150" dist="19050" dir="5400000" algn="bl" rotWithShape="0">
              <a:srgbClr val="FFD966">
                <a:alpha val="50000"/>
              </a:srgbClr>
            </a:outerShdw>
          </a:effectLst>
        </p:spPr>
        <p:txBody>
          <a:bodyPr spcFirstLastPara="1" wrap="square" lIns="91425" tIns="91425" rIns="91425" bIns="91425" anchor="t" anchorCtr="0">
            <a:normAutofit fontScale="90000"/>
          </a:bodyPr>
          <a:lstStyle/>
          <a:p>
            <a:pPr marL="0" marR="0" lvl="0" indent="0" algn="l" rtl="0">
              <a:lnSpc>
                <a:spcPct val="100000"/>
              </a:lnSpc>
              <a:spcBef>
                <a:spcPts val="0"/>
              </a:spcBef>
              <a:spcAft>
                <a:spcPts val="0"/>
              </a:spcAft>
              <a:buNone/>
            </a:pPr>
            <a:r>
              <a:rPr lang="en" sz="4000"/>
              <a:t>Hand Recognition</a:t>
            </a:r>
            <a:endParaRPr sz="4000"/>
          </a:p>
        </p:txBody>
      </p:sp>
      <p:pic>
        <p:nvPicPr>
          <p:cNvPr id="171" name="Google Shape;171;p18" title="EUS.png"/>
          <p:cNvPicPr preferRelativeResize="0"/>
          <p:nvPr/>
        </p:nvPicPr>
        <p:blipFill>
          <a:blip r:embed="rId3">
            <a:alphaModFix amt="25000"/>
          </a:blip>
          <a:stretch>
            <a:fillRect/>
          </a:stretch>
        </p:blipFill>
        <p:spPr>
          <a:xfrm>
            <a:off x="166700" y="190550"/>
            <a:ext cx="881026" cy="881026"/>
          </a:xfrm>
          <a:prstGeom prst="rect">
            <a:avLst/>
          </a:prstGeom>
          <a:noFill/>
          <a:ln>
            <a:noFill/>
          </a:ln>
        </p:spPr>
      </p:pic>
      <p:sp>
        <p:nvSpPr>
          <p:cNvPr id="172" name="Google Shape;172;p18"/>
          <p:cNvSpPr txBox="1">
            <a:spLocks noGrp="1"/>
          </p:cNvSpPr>
          <p:nvPr>
            <p:ph type="body" idx="1"/>
          </p:nvPr>
        </p:nvSpPr>
        <p:spPr>
          <a:xfrm>
            <a:off x="839000" y="1756325"/>
            <a:ext cx="3774900" cy="2668800"/>
          </a:xfrm>
          <a:prstGeom prst="rect">
            <a:avLst/>
          </a:prstGeom>
        </p:spPr>
        <p:txBody>
          <a:bodyPr spcFirstLastPara="1" wrap="square" lIns="91425" tIns="91425" rIns="91425" bIns="91425" anchor="t" anchorCtr="0">
            <a:normAutofit/>
          </a:bodyPr>
          <a:lstStyle/>
          <a:p>
            <a:pPr marL="457200" marR="0" lvl="0" indent="-317500" algn="l" rtl="0">
              <a:lnSpc>
                <a:spcPct val="150000"/>
              </a:lnSpc>
              <a:spcBef>
                <a:spcPts val="1000"/>
              </a:spcBef>
              <a:spcAft>
                <a:spcPts val="0"/>
              </a:spcAft>
              <a:buSzPts val="1400"/>
              <a:buChar char="❖"/>
            </a:pPr>
            <a:r>
              <a:rPr lang="en" sz="1400"/>
              <a:t>‘Hand Landmark’ code is from MediaPipe, trained off thousands of hands </a:t>
            </a:r>
            <a:r>
              <a:rPr lang="en" sz="1400" u="sng">
                <a:solidFill>
                  <a:schemeClr val="hlink"/>
                </a:solidFill>
                <a:hlinkClick r:id="rId4"/>
              </a:rPr>
              <a:t>https://mediapipe-studio.webapps.google.com/studio/demo/hand_landmarker</a:t>
            </a:r>
            <a:r>
              <a:rPr lang="en" sz="1400"/>
              <a:t> </a:t>
            </a:r>
            <a:endParaRPr sz="1400"/>
          </a:p>
          <a:p>
            <a:pPr marL="457200" marR="0" lvl="0" indent="-317500" algn="l" rtl="0">
              <a:lnSpc>
                <a:spcPct val="150000"/>
              </a:lnSpc>
              <a:spcBef>
                <a:spcPts val="1200"/>
              </a:spcBef>
              <a:spcAft>
                <a:spcPts val="1200"/>
              </a:spcAft>
              <a:buSzPts val="1400"/>
              <a:buChar char="❖"/>
            </a:pPr>
            <a:r>
              <a:rPr lang="en" sz="1400"/>
              <a:t>It divides the hand into 21 points, with each point having its own coordinates</a:t>
            </a:r>
            <a:endParaRPr/>
          </a:p>
        </p:txBody>
      </p:sp>
      <p:pic>
        <p:nvPicPr>
          <p:cNvPr id="173" name="Google Shape;173;p18" title="Screenshot 2025-11-06 111033.png"/>
          <p:cNvPicPr preferRelativeResize="0"/>
          <p:nvPr/>
        </p:nvPicPr>
        <p:blipFill rotWithShape="1">
          <a:blip r:embed="rId5">
            <a:alphaModFix/>
          </a:blip>
          <a:srcRect t="59" b="69"/>
          <a:stretch/>
        </p:blipFill>
        <p:spPr>
          <a:xfrm>
            <a:off x="4857850" y="1071581"/>
            <a:ext cx="3853799" cy="339757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9"/>
          <p:cNvSpPr txBox="1">
            <a:spLocks noGrp="1"/>
          </p:cNvSpPr>
          <p:nvPr>
            <p:ph type="title"/>
          </p:nvPr>
        </p:nvSpPr>
        <p:spPr>
          <a:xfrm>
            <a:off x="944800" y="681600"/>
            <a:ext cx="2058000" cy="745500"/>
          </a:xfrm>
          <a:prstGeom prst="rect">
            <a:avLst/>
          </a:prstGeom>
          <a:effectLst>
            <a:outerShdw blurRad="57150" dist="19050" dir="5400000" algn="bl" rotWithShape="0">
              <a:srgbClr val="FFD966">
                <a:alpha val="50000"/>
              </a:srgbClr>
            </a:outerShdw>
          </a:effectLst>
        </p:spPr>
        <p:txBody>
          <a:bodyPr spcFirstLastPara="1" wrap="square" lIns="91425" tIns="91425" rIns="91425" bIns="91425" anchor="t" anchorCtr="0">
            <a:normAutofit fontScale="90000"/>
          </a:bodyPr>
          <a:lstStyle/>
          <a:p>
            <a:pPr marL="0" marR="0" lvl="0" indent="0" algn="l" rtl="0">
              <a:lnSpc>
                <a:spcPct val="100000"/>
              </a:lnSpc>
              <a:spcBef>
                <a:spcPts val="0"/>
              </a:spcBef>
              <a:spcAft>
                <a:spcPts val="0"/>
              </a:spcAft>
              <a:buNone/>
            </a:pPr>
            <a:r>
              <a:rPr lang="en" sz="4000"/>
              <a:t>The AI</a:t>
            </a:r>
            <a:endParaRPr sz="4000"/>
          </a:p>
        </p:txBody>
      </p:sp>
      <p:pic>
        <p:nvPicPr>
          <p:cNvPr id="179" name="Google Shape;179;p19" title="EUS.png"/>
          <p:cNvPicPr preferRelativeResize="0"/>
          <p:nvPr/>
        </p:nvPicPr>
        <p:blipFill>
          <a:blip r:embed="rId3">
            <a:alphaModFix amt="25000"/>
          </a:blip>
          <a:stretch>
            <a:fillRect/>
          </a:stretch>
        </p:blipFill>
        <p:spPr>
          <a:xfrm>
            <a:off x="166700" y="190550"/>
            <a:ext cx="881026" cy="881026"/>
          </a:xfrm>
          <a:prstGeom prst="rect">
            <a:avLst/>
          </a:prstGeom>
          <a:noFill/>
          <a:ln>
            <a:noFill/>
          </a:ln>
        </p:spPr>
      </p:pic>
      <p:sp>
        <p:nvSpPr>
          <p:cNvPr id="180" name="Google Shape;180;p19"/>
          <p:cNvSpPr/>
          <p:nvPr/>
        </p:nvSpPr>
        <p:spPr>
          <a:xfrm>
            <a:off x="3202075" y="1763475"/>
            <a:ext cx="4064700" cy="1982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chemeClr val="dk1"/>
              </a:highlight>
              <a:latin typeface="Calibri"/>
              <a:ea typeface="Calibri"/>
              <a:cs typeface="Calibri"/>
              <a:sym typeface="Calibri"/>
            </a:endParaRPr>
          </a:p>
        </p:txBody>
      </p:sp>
      <p:sp>
        <p:nvSpPr>
          <p:cNvPr id="181" name="Google Shape;181;p19"/>
          <p:cNvSpPr txBox="1">
            <a:spLocks noGrp="1"/>
          </p:cNvSpPr>
          <p:nvPr>
            <p:ph type="body" idx="1"/>
          </p:nvPr>
        </p:nvSpPr>
        <p:spPr>
          <a:xfrm>
            <a:off x="944800" y="1487025"/>
            <a:ext cx="7050600" cy="2072400"/>
          </a:xfrm>
          <a:prstGeom prst="rect">
            <a:avLst/>
          </a:prstGeom>
        </p:spPr>
        <p:txBody>
          <a:bodyPr spcFirstLastPara="1" wrap="square" lIns="91425" tIns="91425" rIns="91425" bIns="91425" anchor="t" anchorCtr="0">
            <a:normAutofit/>
          </a:bodyPr>
          <a:lstStyle/>
          <a:p>
            <a:pPr marL="457200" marR="0" lvl="0" indent="-317500" algn="l" rtl="0">
              <a:lnSpc>
                <a:spcPct val="150000"/>
              </a:lnSpc>
              <a:spcBef>
                <a:spcPts val="1000"/>
              </a:spcBef>
              <a:spcAft>
                <a:spcPts val="0"/>
              </a:spcAft>
              <a:buSzPts val="1400"/>
              <a:buChar char="❖"/>
            </a:pPr>
            <a:r>
              <a:rPr lang="en" sz="1400"/>
              <a:t>Using the MediaPipe code, we had each hand as a set of coordinates to a corresponding letter into a CSV file.</a:t>
            </a:r>
            <a:endParaRPr sz="1400"/>
          </a:p>
          <a:p>
            <a:pPr marL="457200" marR="0" lvl="0" indent="-317500" algn="l" rtl="0">
              <a:lnSpc>
                <a:spcPct val="150000"/>
              </a:lnSpc>
              <a:spcBef>
                <a:spcPts val="1200"/>
              </a:spcBef>
              <a:spcAft>
                <a:spcPts val="0"/>
              </a:spcAft>
              <a:buSzPts val="1400"/>
              <a:buChar char="❖"/>
            </a:pPr>
            <a:r>
              <a:rPr lang="en" sz="1400"/>
              <a:t>15 samples for each letter was collected (though ideally, you would need hundreds for accuracy)</a:t>
            </a:r>
            <a:endParaRPr sz="1400"/>
          </a:p>
          <a:p>
            <a:pPr marL="457200" marR="0" lvl="0" indent="-317500" algn="l" rtl="0">
              <a:lnSpc>
                <a:spcPct val="150000"/>
              </a:lnSpc>
              <a:spcBef>
                <a:spcPts val="1200"/>
              </a:spcBef>
              <a:spcAft>
                <a:spcPts val="1200"/>
              </a:spcAft>
              <a:buSzPts val="1400"/>
              <a:buChar char="❖"/>
            </a:pPr>
            <a:r>
              <a:rPr lang="en" sz="1400"/>
              <a:t>The CSV file was used to train the AI for ‘letter recognition’</a:t>
            </a:r>
            <a:endParaRPr sz="1400"/>
          </a:p>
        </p:txBody>
      </p:sp>
      <p:pic>
        <p:nvPicPr>
          <p:cNvPr id="182" name="Google Shape;182;p19"/>
          <p:cNvPicPr preferRelativeResize="0"/>
          <p:nvPr/>
        </p:nvPicPr>
        <p:blipFill>
          <a:blip r:embed="rId4">
            <a:alphaModFix/>
          </a:blip>
          <a:stretch>
            <a:fillRect/>
          </a:stretch>
        </p:blipFill>
        <p:spPr>
          <a:xfrm>
            <a:off x="1047713" y="3619348"/>
            <a:ext cx="4663026" cy="959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20"/>
          <p:cNvPicPr preferRelativeResize="0"/>
          <p:nvPr/>
        </p:nvPicPr>
        <p:blipFill>
          <a:blip r:embed="rId3">
            <a:alphaModFix/>
          </a:blip>
          <a:stretch>
            <a:fillRect/>
          </a:stretch>
        </p:blipFill>
        <p:spPr>
          <a:xfrm>
            <a:off x="5433200" y="1756950"/>
            <a:ext cx="3323075" cy="2206475"/>
          </a:xfrm>
          <a:prstGeom prst="rect">
            <a:avLst/>
          </a:prstGeom>
          <a:noFill/>
          <a:ln>
            <a:noFill/>
          </a:ln>
        </p:spPr>
      </p:pic>
      <p:sp>
        <p:nvSpPr>
          <p:cNvPr id="188" name="Google Shape;188;p20"/>
          <p:cNvSpPr txBox="1">
            <a:spLocks noGrp="1"/>
          </p:cNvSpPr>
          <p:nvPr>
            <p:ph type="title"/>
          </p:nvPr>
        </p:nvSpPr>
        <p:spPr>
          <a:xfrm>
            <a:off x="944800" y="681600"/>
            <a:ext cx="5897400" cy="745500"/>
          </a:xfrm>
          <a:prstGeom prst="rect">
            <a:avLst/>
          </a:prstGeom>
          <a:effectLst>
            <a:outerShdw blurRad="57150" dist="19050" dir="5400000" algn="bl" rotWithShape="0">
              <a:srgbClr val="FFD966">
                <a:alpha val="50000"/>
              </a:srgbClr>
            </a:outerShdw>
          </a:effectLst>
        </p:spPr>
        <p:txBody>
          <a:bodyPr spcFirstLastPara="1" wrap="square" lIns="91425" tIns="91425" rIns="91425" bIns="91425" anchor="t" anchorCtr="0">
            <a:normAutofit fontScale="90000"/>
          </a:bodyPr>
          <a:lstStyle/>
          <a:p>
            <a:pPr marL="0" marR="0" lvl="0" indent="0" algn="l" rtl="0">
              <a:lnSpc>
                <a:spcPct val="100000"/>
              </a:lnSpc>
              <a:spcBef>
                <a:spcPts val="0"/>
              </a:spcBef>
              <a:spcAft>
                <a:spcPts val="0"/>
              </a:spcAft>
              <a:buNone/>
            </a:pPr>
            <a:r>
              <a:rPr lang="en" sz="4000"/>
              <a:t>KNN (K-Nearest Neighbors)</a:t>
            </a:r>
            <a:endParaRPr sz="4000"/>
          </a:p>
        </p:txBody>
      </p:sp>
      <p:pic>
        <p:nvPicPr>
          <p:cNvPr id="189" name="Google Shape;189;p20" title="EUS.png"/>
          <p:cNvPicPr preferRelativeResize="0"/>
          <p:nvPr/>
        </p:nvPicPr>
        <p:blipFill>
          <a:blip r:embed="rId4">
            <a:alphaModFix amt="25000"/>
          </a:blip>
          <a:stretch>
            <a:fillRect/>
          </a:stretch>
        </p:blipFill>
        <p:spPr>
          <a:xfrm>
            <a:off x="166700" y="190550"/>
            <a:ext cx="881026" cy="881026"/>
          </a:xfrm>
          <a:prstGeom prst="rect">
            <a:avLst/>
          </a:prstGeom>
          <a:noFill/>
          <a:ln>
            <a:noFill/>
          </a:ln>
        </p:spPr>
      </p:pic>
      <p:sp>
        <p:nvSpPr>
          <p:cNvPr id="190" name="Google Shape;190;p20"/>
          <p:cNvSpPr txBox="1">
            <a:spLocks noGrp="1"/>
          </p:cNvSpPr>
          <p:nvPr>
            <p:ph type="body" idx="1"/>
          </p:nvPr>
        </p:nvSpPr>
        <p:spPr>
          <a:xfrm>
            <a:off x="736475" y="1605425"/>
            <a:ext cx="4770000" cy="3090000"/>
          </a:xfrm>
          <a:prstGeom prst="rect">
            <a:avLst/>
          </a:prstGeom>
        </p:spPr>
        <p:txBody>
          <a:bodyPr spcFirstLastPara="1" wrap="square" lIns="91425" tIns="91425" rIns="91425" bIns="91425" anchor="t" anchorCtr="0">
            <a:normAutofit/>
          </a:bodyPr>
          <a:lstStyle/>
          <a:p>
            <a:pPr marL="457200" marR="0" lvl="0" indent="-317500" algn="l" rtl="0">
              <a:lnSpc>
                <a:spcPct val="150000"/>
              </a:lnSpc>
              <a:spcBef>
                <a:spcPts val="1000"/>
              </a:spcBef>
              <a:spcAft>
                <a:spcPts val="0"/>
              </a:spcAft>
              <a:buSzPts val="1400"/>
              <a:buChar char="❖"/>
            </a:pPr>
            <a:r>
              <a:rPr lang="en" sz="1400"/>
              <a:t>K-Nearest Neighbors (KNN) is a simple supervised algorithm. In this case, ideal for classification.</a:t>
            </a:r>
            <a:endParaRPr sz="1400"/>
          </a:p>
          <a:p>
            <a:pPr marL="457200" marR="0" lvl="0" indent="-317500" algn="l" rtl="0">
              <a:lnSpc>
                <a:spcPct val="150000"/>
              </a:lnSpc>
              <a:spcBef>
                <a:spcPts val="1200"/>
              </a:spcBef>
              <a:spcAft>
                <a:spcPts val="0"/>
              </a:spcAft>
              <a:buSzPts val="1400"/>
              <a:buChar char="❖"/>
            </a:pPr>
            <a:r>
              <a:rPr lang="en" sz="1400"/>
              <a:t>As the user’s hands come into frame, the live coordinates for a given letter are tested against the coordinates in the dataset.</a:t>
            </a:r>
            <a:endParaRPr sz="1400"/>
          </a:p>
          <a:p>
            <a:pPr marL="457200" marR="0" lvl="0" indent="-317500" algn="l" rtl="0">
              <a:lnSpc>
                <a:spcPct val="150000"/>
              </a:lnSpc>
              <a:spcBef>
                <a:spcPts val="1200"/>
              </a:spcBef>
              <a:spcAft>
                <a:spcPts val="1200"/>
              </a:spcAft>
              <a:buSzPts val="1400"/>
              <a:buChar char="❖"/>
            </a:pPr>
            <a:r>
              <a:rPr lang="en" sz="1400"/>
              <a:t>Finally, a basic ‘if-then’ A-D grading system based off how close you were to the predicted letter.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1" title="屏幕截图 2025-11-03 211024.png"/>
          <p:cNvPicPr preferRelativeResize="0"/>
          <p:nvPr/>
        </p:nvPicPr>
        <p:blipFill>
          <a:blip r:embed="rId3">
            <a:alphaModFix/>
          </a:blip>
          <a:stretch>
            <a:fillRect/>
          </a:stretch>
        </p:blipFill>
        <p:spPr>
          <a:xfrm>
            <a:off x="4940125" y="997763"/>
            <a:ext cx="3693500" cy="3667825"/>
          </a:xfrm>
          <a:prstGeom prst="rect">
            <a:avLst/>
          </a:prstGeom>
          <a:noFill/>
          <a:ln>
            <a:noFill/>
          </a:ln>
        </p:spPr>
      </p:pic>
      <p:sp>
        <p:nvSpPr>
          <p:cNvPr id="196" name="Google Shape;196;p21"/>
          <p:cNvSpPr txBox="1"/>
          <p:nvPr/>
        </p:nvSpPr>
        <p:spPr>
          <a:xfrm>
            <a:off x="395375" y="2055775"/>
            <a:ext cx="4263300" cy="2683800"/>
          </a:xfrm>
          <a:prstGeom prst="rect">
            <a:avLst/>
          </a:prstGeom>
          <a:noFill/>
          <a:ln>
            <a:noFill/>
          </a:ln>
        </p:spPr>
        <p:txBody>
          <a:bodyPr spcFirstLastPara="1" wrap="square" lIns="87750" tIns="87750" rIns="87750" bIns="87750" anchor="t" anchorCtr="0">
            <a:noAutofit/>
          </a:bodyPr>
          <a:lstStyle/>
          <a:p>
            <a:pPr marL="438835" marR="365696" lvl="0" indent="-323032" algn="l" rtl="0">
              <a:lnSpc>
                <a:spcPct val="115000"/>
              </a:lnSpc>
              <a:spcBef>
                <a:spcPts val="1152"/>
              </a:spcBef>
              <a:spcAft>
                <a:spcPts val="0"/>
              </a:spcAft>
              <a:buClr>
                <a:schemeClr val="dk2"/>
              </a:buClr>
              <a:buSzPts val="1632"/>
              <a:buFont typeface="Calibri"/>
              <a:buChar char="❖"/>
            </a:pPr>
            <a:r>
              <a:rPr lang="en" sz="1631">
                <a:solidFill>
                  <a:schemeClr val="dk2"/>
                </a:solidFill>
                <a:latin typeface="Calibri"/>
                <a:ea typeface="Calibri"/>
                <a:cs typeface="Calibri"/>
                <a:sym typeface="Calibri"/>
              </a:rPr>
              <a:t>AI doesn’t “see” a picture like humans. It tracks 21 hand</a:t>
            </a:r>
            <a:r>
              <a:rPr lang="en" sz="1631" b="1">
                <a:solidFill>
                  <a:schemeClr val="dk2"/>
                </a:solidFill>
                <a:latin typeface="Calibri"/>
                <a:ea typeface="Calibri"/>
                <a:cs typeface="Calibri"/>
                <a:sym typeface="Calibri"/>
              </a:rPr>
              <a:t> joint </a:t>
            </a:r>
            <a:r>
              <a:rPr lang="en" sz="1631" b="1">
                <a:solidFill>
                  <a:srgbClr val="990000"/>
                </a:solidFill>
                <a:latin typeface="Calibri"/>
                <a:ea typeface="Calibri"/>
                <a:cs typeface="Calibri"/>
                <a:sym typeface="Calibri"/>
              </a:rPr>
              <a:t>points </a:t>
            </a:r>
            <a:r>
              <a:rPr lang="en" sz="1631">
                <a:solidFill>
                  <a:srgbClr val="990000"/>
                </a:solidFill>
                <a:latin typeface="Calibri"/>
                <a:ea typeface="Calibri"/>
                <a:cs typeface="Calibri"/>
                <a:sym typeface="Calibri"/>
              </a:rPr>
              <a:t>→ analyzes </a:t>
            </a:r>
            <a:r>
              <a:rPr lang="en" sz="1631" b="1">
                <a:solidFill>
                  <a:srgbClr val="990000"/>
                </a:solidFill>
                <a:latin typeface="Calibri"/>
                <a:ea typeface="Calibri"/>
                <a:cs typeface="Calibri"/>
                <a:sym typeface="Calibri"/>
              </a:rPr>
              <a:t>geometry</a:t>
            </a:r>
            <a:r>
              <a:rPr lang="en" sz="1631">
                <a:solidFill>
                  <a:srgbClr val="990000"/>
                </a:solidFill>
                <a:latin typeface="Calibri"/>
                <a:ea typeface="Calibri"/>
                <a:cs typeface="Calibri"/>
                <a:sym typeface="Calibri"/>
              </a:rPr>
              <a:t> → makes a </a:t>
            </a:r>
            <a:r>
              <a:rPr lang="en" sz="1631" b="1">
                <a:solidFill>
                  <a:srgbClr val="990000"/>
                </a:solidFill>
                <a:latin typeface="Calibri"/>
                <a:ea typeface="Calibri"/>
                <a:cs typeface="Calibri"/>
                <a:sym typeface="Calibri"/>
              </a:rPr>
              <a:t>guess</a:t>
            </a:r>
            <a:r>
              <a:rPr lang="en" sz="1631">
                <a:solidFill>
                  <a:srgbClr val="990000"/>
                </a:solidFill>
                <a:latin typeface="Calibri"/>
                <a:ea typeface="Calibri"/>
                <a:cs typeface="Calibri"/>
                <a:sym typeface="Calibri"/>
              </a:rPr>
              <a:t>.</a:t>
            </a:r>
            <a:endParaRPr sz="1631">
              <a:solidFill>
                <a:srgbClr val="990000"/>
              </a:solidFill>
              <a:latin typeface="Calibri"/>
              <a:ea typeface="Calibri"/>
              <a:cs typeface="Calibri"/>
              <a:sym typeface="Calibri"/>
            </a:endParaRPr>
          </a:p>
          <a:p>
            <a:pPr marL="438835" lvl="0" indent="-323032" algn="l" rtl="0">
              <a:lnSpc>
                <a:spcPct val="115000"/>
              </a:lnSpc>
              <a:spcBef>
                <a:spcPts val="0"/>
              </a:spcBef>
              <a:spcAft>
                <a:spcPts val="0"/>
              </a:spcAft>
              <a:buClr>
                <a:schemeClr val="dk2"/>
              </a:buClr>
              <a:buSzPts val="1632"/>
              <a:buFont typeface="Calibri"/>
              <a:buChar char="❖"/>
            </a:pPr>
            <a:r>
              <a:rPr lang="en" sz="1631">
                <a:solidFill>
                  <a:schemeClr val="dk2"/>
                </a:solidFill>
                <a:latin typeface="Calibri"/>
                <a:ea typeface="Calibri"/>
                <a:cs typeface="Calibri"/>
                <a:sym typeface="Calibri"/>
              </a:rPr>
              <a:t>Low confidence or bad points = we </a:t>
            </a:r>
            <a:r>
              <a:rPr lang="en" sz="1631" b="1">
                <a:solidFill>
                  <a:schemeClr val="dk2"/>
                </a:solidFill>
                <a:latin typeface="Calibri"/>
                <a:ea typeface="Calibri"/>
                <a:cs typeface="Calibri"/>
                <a:sym typeface="Calibri"/>
              </a:rPr>
              <a:t>ignore </a:t>
            </a:r>
            <a:r>
              <a:rPr lang="en" sz="1631">
                <a:solidFill>
                  <a:schemeClr val="dk2"/>
                </a:solidFill>
                <a:latin typeface="Calibri"/>
                <a:ea typeface="Calibri"/>
                <a:cs typeface="Calibri"/>
                <a:sym typeface="Calibri"/>
              </a:rPr>
              <a:t>that frame </a:t>
            </a:r>
            <a:endParaRPr sz="1631">
              <a:solidFill>
                <a:schemeClr val="dk2"/>
              </a:solidFill>
              <a:latin typeface="Calibri"/>
              <a:ea typeface="Calibri"/>
              <a:cs typeface="Calibri"/>
              <a:sym typeface="Calibri"/>
            </a:endParaRPr>
          </a:p>
          <a:p>
            <a:pPr marL="438835" marR="365696" lvl="0" indent="-323032" algn="l" rtl="0">
              <a:lnSpc>
                <a:spcPct val="115000"/>
              </a:lnSpc>
              <a:spcBef>
                <a:spcPts val="0"/>
              </a:spcBef>
              <a:spcAft>
                <a:spcPts val="0"/>
              </a:spcAft>
              <a:buClr>
                <a:schemeClr val="dk2"/>
              </a:buClr>
              <a:buSzPts val="1632"/>
              <a:buFont typeface="Calibri"/>
              <a:buChar char="❖"/>
            </a:pPr>
            <a:r>
              <a:rPr lang="en" sz="1631">
                <a:solidFill>
                  <a:schemeClr val="dk2"/>
                </a:solidFill>
                <a:latin typeface="Calibri"/>
                <a:ea typeface="Calibri"/>
                <a:cs typeface="Calibri"/>
                <a:sym typeface="Calibri"/>
              </a:rPr>
              <a:t>AI is smart, but it also doubts itself.</a:t>
            </a:r>
            <a:br>
              <a:rPr lang="en" sz="1631">
                <a:solidFill>
                  <a:schemeClr val="dk2"/>
                </a:solidFill>
                <a:latin typeface="Calibri"/>
                <a:ea typeface="Calibri"/>
                <a:cs typeface="Calibri"/>
                <a:sym typeface="Calibri"/>
              </a:rPr>
            </a:br>
            <a:r>
              <a:rPr lang="en" sz="1631">
                <a:solidFill>
                  <a:schemeClr val="dk2"/>
                </a:solidFill>
                <a:latin typeface="Calibri"/>
                <a:ea typeface="Calibri"/>
                <a:cs typeface="Calibri"/>
                <a:sym typeface="Calibri"/>
              </a:rPr>
              <a:t> We need to </a:t>
            </a:r>
            <a:r>
              <a:rPr lang="en" sz="1631" b="1">
                <a:solidFill>
                  <a:schemeClr val="dk2"/>
                </a:solidFill>
                <a:latin typeface="Calibri"/>
                <a:ea typeface="Calibri"/>
                <a:cs typeface="Calibri"/>
                <a:sym typeface="Calibri"/>
              </a:rPr>
              <a:t>check confidence </a:t>
            </a:r>
            <a:r>
              <a:rPr lang="en" sz="1631">
                <a:solidFill>
                  <a:schemeClr val="dk2"/>
                </a:solidFill>
                <a:latin typeface="Calibri"/>
                <a:ea typeface="Calibri"/>
                <a:cs typeface="Calibri"/>
                <a:sym typeface="Calibri"/>
              </a:rPr>
              <a:t>before trusting its answer.</a:t>
            </a:r>
            <a:endParaRPr sz="1631">
              <a:solidFill>
                <a:schemeClr val="dk2"/>
              </a:solidFill>
              <a:latin typeface="Calibri"/>
              <a:ea typeface="Calibri"/>
              <a:cs typeface="Calibri"/>
              <a:sym typeface="Calibri"/>
            </a:endParaRPr>
          </a:p>
        </p:txBody>
      </p:sp>
      <p:sp>
        <p:nvSpPr>
          <p:cNvPr id="197" name="Google Shape;197;p21"/>
          <p:cNvSpPr txBox="1"/>
          <p:nvPr/>
        </p:nvSpPr>
        <p:spPr>
          <a:xfrm>
            <a:off x="1047725" y="346950"/>
            <a:ext cx="3611100" cy="163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a:solidFill>
                  <a:schemeClr val="lt1"/>
                </a:solidFill>
                <a:latin typeface="Nunito"/>
                <a:ea typeface="Nunito"/>
                <a:cs typeface="Nunito"/>
                <a:sym typeface="Nunito"/>
              </a:rPr>
              <a:t>Setting the AI model to run as our backend</a:t>
            </a:r>
            <a:endParaRPr sz="3300">
              <a:solidFill>
                <a:schemeClr val="lt1"/>
              </a:solidFill>
              <a:latin typeface="Nunito"/>
              <a:ea typeface="Nunito"/>
              <a:cs typeface="Nunito"/>
              <a:sym typeface="Nunito"/>
            </a:endParaRPr>
          </a:p>
        </p:txBody>
      </p:sp>
      <p:pic>
        <p:nvPicPr>
          <p:cNvPr id="198" name="Google Shape;198;p21" title="EUS.png"/>
          <p:cNvPicPr preferRelativeResize="0"/>
          <p:nvPr/>
        </p:nvPicPr>
        <p:blipFill>
          <a:blip r:embed="rId4">
            <a:alphaModFix amt="25000"/>
          </a:blip>
          <a:stretch>
            <a:fillRect/>
          </a:stretch>
        </p:blipFill>
        <p:spPr>
          <a:xfrm>
            <a:off x="166700" y="190550"/>
            <a:ext cx="881026" cy="8810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2"/>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204" name="Google Shape;204;p22"/>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205" name="Google Shape;205;p22"/>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06" name="Google Shape;206;p22" title="屏幕截图 2025-11-04 125846.png"/>
          <p:cNvPicPr preferRelativeResize="0"/>
          <p:nvPr/>
        </p:nvPicPr>
        <p:blipFill>
          <a:blip r:embed="rId3">
            <a:alphaModFix/>
          </a:blip>
          <a:stretch>
            <a:fillRect/>
          </a:stretch>
        </p:blipFill>
        <p:spPr>
          <a:xfrm>
            <a:off x="772286" y="375099"/>
            <a:ext cx="7599424" cy="4393299"/>
          </a:xfrm>
          <a:prstGeom prst="rect">
            <a:avLst/>
          </a:prstGeom>
          <a:noFill/>
          <a:ln>
            <a:noFill/>
          </a:ln>
        </p:spPr>
      </p:pic>
      <p:pic>
        <p:nvPicPr>
          <p:cNvPr id="207" name="Google Shape;207;p22" title="EUS.png"/>
          <p:cNvPicPr preferRelativeResize="0"/>
          <p:nvPr/>
        </p:nvPicPr>
        <p:blipFill>
          <a:blip r:embed="rId4">
            <a:alphaModFix amt="25000"/>
          </a:blip>
          <a:stretch>
            <a:fillRect/>
          </a:stretch>
        </p:blipFill>
        <p:spPr>
          <a:xfrm>
            <a:off x="166700" y="190550"/>
            <a:ext cx="881026" cy="8810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23" title="屏幕截图 2025-11-03 211024.png"/>
          <p:cNvPicPr preferRelativeResize="0"/>
          <p:nvPr/>
        </p:nvPicPr>
        <p:blipFill>
          <a:blip r:embed="rId3">
            <a:alphaModFix/>
          </a:blip>
          <a:stretch>
            <a:fillRect/>
          </a:stretch>
        </p:blipFill>
        <p:spPr>
          <a:xfrm>
            <a:off x="644275" y="839250"/>
            <a:ext cx="3651775" cy="3680525"/>
          </a:xfrm>
          <a:prstGeom prst="rect">
            <a:avLst/>
          </a:prstGeom>
          <a:noFill/>
          <a:ln>
            <a:noFill/>
          </a:ln>
        </p:spPr>
      </p:pic>
      <p:graphicFrame>
        <p:nvGraphicFramePr>
          <p:cNvPr id="213" name="Google Shape;213;p23"/>
          <p:cNvGraphicFramePr/>
          <p:nvPr/>
        </p:nvGraphicFramePr>
        <p:xfrm>
          <a:off x="4296050" y="860763"/>
          <a:ext cx="3000000" cy="3000000"/>
        </p:xfrm>
        <a:graphic>
          <a:graphicData uri="http://schemas.openxmlformats.org/drawingml/2006/table">
            <a:tbl>
              <a:tblPr>
                <a:noFill/>
                <a:tableStyleId>{F7650F8B-F8A1-49CA-A5CC-8E7D228623E7}</a:tableStyleId>
              </a:tblPr>
              <a:tblGrid>
                <a:gridCol w="1580500">
                  <a:extLst>
                    <a:ext uri="{9D8B030D-6E8A-4147-A177-3AD203B41FA5}">
                      <a16:colId xmlns:a16="http://schemas.microsoft.com/office/drawing/2014/main" val="20000"/>
                    </a:ext>
                  </a:extLst>
                </a:gridCol>
                <a:gridCol w="2841625">
                  <a:extLst>
                    <a:ext uri="{9D8B030D-6E8A-4147-A177-3AD203B41FA5}">
                      <a16:colId xmlns:a16="http://schemas.microsoft.com/office/drawing/2014/main" val="20001"/>
                    </a:ext>
                  </a:extLst>
                </a:gridCol>
              </a:tblGrid>
              <a:tr h="406875">
                <a:tc>
                  <a:txBody>
                    <a:bodyPr/>
                    <a:lstStyle/>
                    <a:p>
                      <a:pPr marL="0" lvl="0" indent="0" algn="ctr" rtl="0">
                        <a:lnSpc>
                          <a:spcPct val="115000"/>
                        </a:lnSpc>
                        <a:spcBef>
                          <a:spcPts val="0"/>
                        </a:spcBef>
                        <a:spcAft>
                          <a:spcPts val="0"/>
                        </a:spcAft>
                        <a:buNone/>
                      </a:pPr>
                      <a:r>
                        <a:rPr lang="en">
                          <a:solidFill>
                            <a:schemeClr val="dk2"/>
                          </a:solidFill>
                          <a:latin typeface="Calibri"/>
                          <a:ea typeface="Calibri"/>
                          <a:cs typeface="Calibri"/>
                          <a:sym typeface="Calibri"/>
                        </a:rPr>
                        <a:t>Field</a:t>
                      </a:r>
                      <a:endParaRPr/>
                    </a:p>
                  </a:txBody>
                  <a:tcPr marL="91425" marR="91425" marT="91425" marB="91425"/>
                </a:tc>
                <a:tc>
                  <a:txBody>
                    <a:bodyPr/>
                    <a:lstStyle/>
                    <a:p>
                      <a:pPr marL="0" lvl="0" indent="0" algn="ctr" rtl="0">
                        <a:lnSpc>
                          <a:spcPct val="115000"/>
                        </a:lnSpc>
                        <a:spcBef>
                          <a:spcPts val="0"/>
                        </a:spcBef>
                        <a:spcAft>
                          <a:spcPts val="0"/>
                        </a:spcAft>
                        <a:buNone/>
                      </a:pPr>
                      <a:r>
                        <a:rPr lang="en">
                          <a:solidFill>
                            <a:schemeClr val="dk2"/>
                          </a:solidFill>
                          <a:latin typeface="Calibri"/>
                          <a:ea typeface="Calibri"/>
                          <a:cs typeface="Calibri"/>
                          <a:sym typeface="Calibri"/>
                        </a:rPr>
                        <a:t>Meaning</a:t>
                      </a:r>
                      <a:endParaRPr/>
                    </a:p>
                  </a:txBody>
                  <a:tcPr marL="91425" marR="91425" marT="91425" marB="91425"/>
                </a:tc>
                <a:extLst>
                  <a:ext uri="{0D108BD9-81ED-4DB2-BD59-A6C34878D82A}">
                    <a16:rowId xmlns:a16="http://schemas.microsoft.com/office/drawing/2014/main" val="10000"/>
                  </a:ext>
                </a:extLst>
              </a:tr>
              <a:tr h="373950">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predicted: "H"</a:t>
                      </a:r>
                      <a:endParaRPr/>
                    </a:p>
                  </a:txBody>
                  <a:tcPr marL="91425" marR="91425" marT="91425" marB="91425"/>
                </a:tc>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AI’s </a:t>
                      </a:r>
                      <a:r>
                        <a:rPr lang="en" b="1">
                          <a:solidFill>
                            <a:schemeClr val="dk2"/>
                          </a:solidFill>
                          <a:latin typeface="Calibri"/>
                          <a:ea typeface="Calibri"/>
                          <a:cs typeface="Calibri"/>
                          <a:sym typeface="Calibri"/>
                        </a:rPr>
                        <a:t>guess for</a:t>
                      </a:r>
                      <a:r>
                        <a:rPr lang="en">
                          <a:solidFill>
                            <a:schemeClr val="dk2"/>
                          </a:solidFill>
                          <a:latin typeface="Calibri"/>
                          <a:ea typeface="Calibri"/>
                          <a:cs typeface="Calibri"/>
                          <a:sym typeface="Calibri"/>
                        </a:rPr>
                        <a:t> the gesture</a:t>
                      </a:r>
                      <a:endParaRPr/>
                    </a:p>
                  </a:txBody>
                  <a:tcPr marL="91425" marR="91425" marT="91425" marB="91425"/>
                </a:tc>
                <a:extLst>
                  <a:ext uri="{0D108BD9-81ED-4DB2-BD59-A6C34878D82A}">
                    <a16:rowId xmlns:a16="http://schemas.microsoft.com/office/drawing/2014/main" val="10001"/>
                  </a:ext>
                </a:extLst>
              </a:tr>
              <a:tr h="376525">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target: "A"</a:t>
                      </a:r>
                      <a:endParaRPr/>
                    </a:p>
                  </a:txBody>
                  <a:tcPr marL="91425" marR="91425" marT="91425" marB="91425"/>
                </a:tc>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The gesture </a:t>
                      </a:r>
                      <a:r>
                        <a:rPr lang="en" b="1">
                          <a:solidFill>
                            <a:schemeClr val="dk2"/>
                          </a:solidFill>
                          <a:latin typeface="Calibri"/>
                          <a:ea typeface="Calibri"/>
                          <a:cs typeface="Calibri"/>
                          <a:sym typeface="Calibri"/>
                        </a:rPr>
                        <a:t>we wanted </a:t>
                      </a:r>
                      <a:r>
                        <a:rPr lang="en">
                          <a:solidFill>
                            <a:schemeClr val="dk2"/>
                          </a:solidFill>
                          <a:latin typeface="Calibri"/>
                          <a:ea typeface="Calibri"/>
                          <a:cs typeface="Calibri"/>
                          <a:sym typeface="Calibri"/>
                        </a:rPr>
                        <a:t>it to detect</a:t>
                      </a:r>
                      <a:endParaRPr/>
                    </a:p>
                  </a:txBody>
                  <a:tcPr marL="91425" marR="91425" marT="91425" marB="91425"/>
                </a:tc>
                <a:extLst>
                  <a:ext uri="{0D108BD9-81ED-4DB2-BD59-A6C34878D82A}">
                    <a16:rowId xmlns:a16="http://schemas.microsoft.com/office/drawing/2014/main" val="10002"/>
                  </a:ext>
                </a:extLst>
              </a:tr>
              <a:tr h="572575">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confidence: 0.33</a:t>
                      </a:r>
                      <a:endParaRPr/>
                    </a:p>
                  </a:txBody>
                  <a:tcPr marL="91425" marR="91425" marT="91425" marB="91425"/>
                </a:tc>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AI’s confidence level (0–1). 0.33 = “I’m not </a:t>
                      </a:r>
                      <a:r>
                        <a:rPr lang="en" b="1">
                          <a:solidFill>
                            <a:schemeClr val="dk2"/>
                          </a:solidFill>
                          <a:latin typeface="Calibri"/>
                          <a:ea typeface="Calibri"/>
                          <a:cs typeface="Calibri"/>
                          <a:sym typeface="Calibri"/>
                        </a:rPr>
                        <a:t>sure</a:t>
                      </a:r>
                      <a:r>
                        <a:rPr lang="en">
                          <a:solidFill>
                            <a:schemeClr val="dk2"/>
                          </a:solidFill>
                          <a:latin typeface="Calibri"/>
                          <a:ea typeface="Calibri"/>
                          <a:cs typeface="Calibri"/>
                          <a:sym typeface="Calibri"/>
                        </a:rPr>
                        <a:t>…”</a:t>
                      </a:r>
                      <a:endParaRPr/>
                    </a:p>
                  </a:txBody>
                  <a:tcPr marL="91425" marR="91425" marT="91425" marB="91425"/>
                </a:tc>
                <a:extLst>
                  <a:ext uri="{0D108BD9-81ED-4DB2-BD59-A6C34878D82A}">
                    <a16:rowId xmlns:a16="http://schemas.microsoft.com/office/drawing/2014/main" val="10003"/>
                  </a:ext>
                </a:extLst>
              </a:tr>
              <a:tr h="572575">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landmarks_ok: false</a:t>
                      </a:r>
                      <a:endParaRPr/>
                    </a:p>
                  </a:txBody>
                  <a:tcPr marL="91425" marR="91425" marT="91425" marB="91425"/>
                </a:tc>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Hand points were </a:t>
                      </a:r>
                      <a:r>
                        <a:rPr lang="en" b="1">
                          <a:solidFill>
                            <a:schemeClr val="dk2"/>
                          </a:solidFill>
                          <a:latin typeface="Calibri"/>
                          <a:ea typeface="Calibri"/>
                          <a:cs typeface="Calibri"/>
                          <a:sym typeface="Calibri"/>
                        </a:rPr>
                        <a:t>not clear → don't trust this frame</a:t>
                      </a:r>
                      <a:endParaRPr/>
                    </a:p>
                  </a:txBody>
                  <a:tcPr marL="91425" marR="91425" marT="91425" marB="91425"/>
                </a:tc>
                <a:extLst>
                  <a:ext uri="{0D108BD9-81ED-4DB2-BD59-A6C34878D82A}">
                    <a16:rowId xmlns:a16="http://schemas.microsoft.com/office/drawing/2014/main" val="10004"/>
                  </a:ext>
                </a:extLst>
              </a:tr>
              <a:tr h="572575">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inference_ms: 44.9</a:t>
                      </a:r>
                      <a:endParaRPr/>
                    </a:p>
                  </a:txBody>
                  <a:tcPr marL="91425" marR="91425" marT="91425" marB="91425"/>
                </a:tc>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Time </a:t>
                      </a:r>
                      <a:r>
                        <a:rPr lang="en" b="1">
                          <a:solidFill>
                            <a:schemeClr val="dk2"/>
                          </a:solidFill>
                          <a:latin typeface="Calibri"/>
                          <a:ea typeface="Calibri"/>
                          <a:cs typeface="Calibri"/>
                          <a:sym typeface="Calibri"/>
                        </a:rPr>
                        <a:t>AI needed to think</a:t>
                      </a:r>
                      <a:r>
                        <a:rPr lang="en">
                          <a:solidFill>
                            <a:schemeClr val="dk2"/>
                          </a:solidFill>
                          <a:latin typeface="Calibri"/>
                          <a:ea typeface="Calibri"/>
                          <a:cs typeface="Calibri"/>
                          <a:sym typeface="Calibri"/>
                        </a:rPr>
                        <a:t> (speed / performance)</a:t>
                      </a:r>
                      <a:endParaRPr/>
                    </a:p>
                  </a:txBody>
                  <a:tcPr marL="91425" marR="91425" marT="91425" marB="91425"/>
                </a:tc>
                <a:extLst>
                  <a:ext uri="{0D108BD9-81ED-4DB2-BD59-A6C34878D82A}">
                    <a16:rowId xmlns:a16="http://schemas.microsoft.com/office/drawing/2014/main" val="10005"/>
                  </a:ext>
                </a:extLst>
              </a:tr>
              <a:tr h="572575">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landmarks: [...]</a:t>
                      </a:r>
                      <a:endParaRPr/>
                    </a:p>
                  </a:txBody>
                  <a:tcPr marL="91425" marR="91425" marT="91425" marB="91425"/>
                </a:tc>
                <a:tc>
                  <a:txBody>
                    <a:bodyPr/>
                    <a:lstStyle/>
                    <a:p>
                      <a:pPr marL="0" lvl="0" indent="0" algn="l" rtl="0">
                        <a:spcBef>
                          <a:spcPts val="0"/>
                        </a:spcBef>
                        <a:spcAft>
                          <a:spcPts val="0"/>
                        </a:spcAft>
                        <a:buNone/>
                      </a:pPr>
                      <a:r>
                        <a:rPr lang="en">
                          <a:solidFill>
                            <a:schemeClr val="dk2"/>
                          </a:solidFill>
                          <a:latin typeface="Calibri"/>
                          <a:ea typeface="Calibri"/>
                          <a:cs typeface="Calibri"/>
                          <a:sym typeface="Calibri"/>
                        </a:rPr>
                        <a:t>21 hand key points (AI sees </a:t>
                      </a:r>
                      <a:r>
                        <a:rPr lang="en" b="1">
                          <a:solidFill>
                            <a:schemeClr val="dk2"/>
                          </a:solidFill>
                          <a:latin typeface="Calibri"/>
                          <a:ea typeface="Calibri"/>
                          <a:cs typeface="Calibri"/>
                          <a:sym typeface="Calibri"/>
                        </a:rPr>
                        <a:t>bones</a:t>
                      </a:r>
                      <a:r>
                        <a:rPr lang="en">
                          <a:solidFill>
                            <a:schemeClr val="dk2"/>
                          </a:solidFill>
                          <a:latin typeface="Calibri"/>
                          <a:ea typeface="Calibri"/>
                          <a:cs typeface="Calibri"/>
                          <a:sym typeface="Calibri"/>
                        </a:rPr>
                        <a:t>, not skin)</a:t>
                      </a:r>
                      <a:endParaRPr/>
                    </a:p>
                  </a:txBody>
                  <a:tcPr marL="91425" marR="91425" marT="91425" marB="91425"/>
                </a:tc>
                <a:extLst>
                  <a:ext uri="{0D108BD9-81ED-4DB2-BD59-A6C34878D82A}">
                    <a16:rowId xmlns:a16="http://schemas.microsoft.com/office/drawing/2014/main" val="10006"/>
                  </a:ext>
                </a:extLst>
              </a:tr>
            </a:tbl>
          </a:graphicData>
        </a:graphic>
      </p:graphicFrame>
      <p:pic>
        <p:nvPicPr>
          <p:cNvPr id="214" name="Google Shape;214;p23" title="EUS.png"/>
          <p:cNvPicPr preferRelativeResize="0"/>
          <p:nvPr/>
        </p:nvPicPr>
        <p:blipFill>
          <a:blip r:embed="rId4">
            <a:alphaModFix amt="25000"/>
          </a:blip>
          <a:stretch>
            <a:fillRect/>
          </a:stretch>
        </p:blipFill>
        <p:spPr>
          <a:xfrm>
            <a:off x="166700" y="190550"/>
            <a:ext cx="881026" cy="881026"/>
          </a:xfrm>
          <a:prstGeom prst="rect">
            <a:avLst/>
          </a:prstGeom>
          <a:noFill/>
          <a:ln>
            <a:noFill/>
          </a:ln>
        </p:spPr>
      </p:pic>
      <p:sp>
        <p:nvSpPr>
          <p:cNvPr id="215" name="Google Shape;215;p23"/>
          <p:cNvSpPr txBox="1"/>
          <p:nvPr/>
        </p:nvSpPr>
        <p:spPr>
          <a:xfrm>
            <a:off x="1749525" y="334750"/>
            <a:ext cx="6096600" cy="43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Calibri"/>
                <a:ea typeface="Calibri"/>
                <a:cs typeface="Calibri"/>
                <a:sym typeface="Calibri"/>
              </a:rPr>
              <a:t>Data stored in JSON format = like a excel sheet in coding language</a:t>
            </a:r>
            <a:endParaRPr>
              <a:solidFill>
                <a:schemeClr val="dk2"/>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4"/>
          <p:cNvSpPr txBox="1">
            <a:spLocks noGrp="1"/>
          </p:cNvSpPr>
          <p:nvPr>
            <p:ph type="body" idx="2"/>
          </p:nvPr>
        </p:nvSpPr>
        <p:spPr>
          <a:xfrm>
            <a:off x="4638675" y="472950"/>
            <a:ext cx="4152300" cy="4197600"/>
          </a:xfrm>
          <a:prstGeom prst="rect">
            <a:avLst/>
          </a:prstGeom>
        </p:spPr>
        <p:txBody>
          <a:bodyPr spcFirstLastPara="1" wrap="square" lIns="91425" tIns="91425" rIns="91425" bIns="91425" anchor="t" anchorCtr="0">
            <a:normAutofit lnSpcReduction="20000"/>
          </a:bodyPr>
          <a:lstStyle/>
          <a:p>
            <a:pPr marL="0" lvl="0" indent="0" algn="l" rtl="0">
              <a:spcBef>
                <a:spcPts val="1200"/>
              </a:spcBef>
              <a:spcAft>
                <a:spcPts val="0"/>
              </a:spcAft>
              <a:buNone/>
            </a:pPr>
            <a:r>
              <a:rPr lang="en" sz="1400"/>
              <a:t>To make the system stable and fair, we </a:t>
            </a:r>
            <a:r>
              <a:rPr lang="en" sz="1400" b="1"/>
              <a:t>don’t trust every frame.</a:t>
            </a:r>
            <a:endParaRPr sz="1400"/>
          </a:p>
          <a:p>
            <a:pPr marL="0" lvl="0" indent="0" algn="l" rtl="0">
              <a:spcBef>
                <a:spcPts val="1200"/>
              </a:spcBef>
              <a:spcAft>
                <a:spcPts val="0"/>
              </a:spcAft>
              <a:buNone/>
            </a:pPr>
            <a:r>
              <a:rPr lang="en" sz="1400"/>
              <a:t>We </a:t>
            </a:r>
            <a:r>
              <a:rPr lang="en" sz="1400" b="1"/>
              <a:t>check three things</a:t>
            </a:r>
            <a:r>
              <a:rPr lang="en" sz="1400"/>
              <a:t> before showing a result:</a:t>
            </a:r>
            <a:endParaRPr sz="1400"/>
          </a:p>
          <a:p>
            <a:pPr marL="0" lvl="0" indent="0" algn="l" rtl="0">
              <a:spcBef>
                <a:spcPts val="1200"/>
              </a:spcBef>
              <a:spcAft>
                <a:spcPts val="0"/>
              </a:spcAft>
              <a:buNone/>
            </a:pPr>
            <a:r>
              <a:rPr lang="en" sz="1400"/>
              <a:t>1) </a:t>
            </a:r>
            <a:r>
              <a:rPr lang="en" sz="1400" b="1"/>
              <a:t>Quality</a:t>
            </a:r>
            <a:r>
              <a:rPr lang="en" sz="1400"/>
              <a:t> first (Visibility ≥ 0.4: </a:t>
            </a:r>
            <a:r>
              <a:rPr lang="en" sz="1400" b="1"/>
              <a:t>Camera sees </a:t>
            </a:r>
            <a:r>
              <a:rPr lang="en" sz="1400"/>
              <a:t>the hand clearly)</a:t>
            </a:r>
            <a:br>
              <a:rPr lang="en" sz="1400"/>
            </a:br>
            <a:r>
              <a:rPr lang="en" sz="1400"/>
              <a:t> If the hand keypoints are unclear → ignore this frame.</a:t>
            </a:r>
            <a:endParaRPr sz="1400"/>
          </a:p>
          <a:p>
            <a:pPr marL="381000" marR="381000" lvl="0" indent="0" algn="l" rtl="0">
              <a:spcBef>
                <a:spcPts val="1200"/>
              </a:spcBef>
              <a:spcAft>
                <a:spcPts val="0"/>
              </a:spcAft>
              <a:buNone/>
            </a:pPr>
            <a:r>
              <a:rPr lang="en" sz="1400"/>
              <a:t>No clean signal = no decision.</a:t>
            </a:r>
            <a:endParaRPr sz="1400"/>
          </a:p>
          <a:p>
            <a:pPr marL="0" lvl="0" indent="0" algn="l" rtl="0">
              <a:spcBef>
                <a:spcPts val="1200"/>
              </a:spcBef>
              <a:spcAft>
                <a:spcPts val="0"/>
              </a:spcAft>
              <a:buNone/>
            </a:pPr>
            <a:r>
              <a:rPr lang="en" sz="1400"/>
              <a:t>2) </a:t>
            </a:r>
            <a:r>
              <a:rPr lang="en" sz="1400" b="1"/>
              <a:t>Confidence</a:t>
            </a:r>
            <a:r>
              <a:rPr lang="en" sz="1400"/>
              <a:t> threshold</a:t>
            </a:r>
            <a:br>
              <a:rPr lang="en" sz="1400"/>
            </a:br>
            <a:r>
              <a:rPr lang="en" sz="1400"/>
              <a:t> If the confidence &lt; 0.6, we don’t show it.</a:t>
            </a:r>
            <a:endParaRPr sz="1400"/>
          </a:p>
          <a:p>
            <a:pPr marL="381000" marR="381000" lvl="0" indent="0" algn="l" rtl="0">
              <a:spcBef>
                <a:spcPts val="1200"/>
              </a:spcBef>
              <a:spcAft>
                <a:spcPts val="0"/>
              </a:spcAft>
              <a:buNone/>
            </a:pPr>
            <a:r>
              <a:rPr lang="en" sz="1400"/>
              <a:t>Low confidence = “A</a:t>
            </a:r>
            <a:r>
              <a:rPr lang="en" sz="1400" b="1"/>
              <a:t>I isn’t sure </a:t>
            </a:r>
            <a:r>
              <a:rPr lang="en" sz="1400"/>
              <a:t>yet.”</a:t>
            </a:r>
            <a:endParaRPr sz="1400"/>
          </a:p>
          <a:p>
            <a:pPr marL="0" lvl="0" indent="0" algn="l" rtl="0">
              <a:spcBef>
                <a:spcPts val="1200"/>
              </a:spcBef>
              <a:spcAft>
                <a:spcPts val="0"/>
              </a:spcAft>
              <a:buNone/>
            </a:pPr>
            <a:r>
              <a:rPr lang="en" sz="1400"/>
              <a:t>3) </a:t>
            </a:r>
            <a:r>
              <a:rPr lang="en" sz="1400" b="1"/>
              <a:t>Time</a:t>
            </a:r>
            <a:r>
              <a:rPr lang="en" sz="1400"/>
              <a:t> stability (5-frame vote: Avoid random guesses)</a:t>
            </a:r>
            <a:br>
              <a:rPr lang="en" sz="1400"/>
            </a:br>
            <a:r>
              <a:rPr lang="en" sz="1400"/>
              <a:t>The </a:t>
            </a:r>
            <a:r>
              <a:rPr lang="en" sz="1400" b="1"/>
              <a:t>same gesture must appear across multiple frames</a:t>
            </a:r>
            <a:r>
              <a:rPr lang="en" sz="1400"/>
              <a:t> (ex: 5 frames)</a:t>
            </a:r>
            <a:endParaRPr sz="1400"/>
          </a:p>
          <a:p>
            <a:pPr marL="381000" marR="381000" lvl="0" indent="0" algn="l" rtl="0">
              <a:spcBef>
                <a:spcPts val="1200"/>
              </a:spcBef>
              <a:spcAft>
                <a:spcPts val="1200"/>
              </a:spcAft>
              <a:buNone/>
            </a:pPr>
            <a:r>
              <a:rPr lang="en" sz="1400"/>
              <a:t>One lucky guess ≠ real answer.</a:t>
            </a:r>
            <a:endParaRPr sz="1400"/>
          </a:p>
        </p:txBody>
      </p:sp>
      <p:pic>
        <p:nvPicPr>
          <p:cNvPr id="221" name="Google Shape;221;p24" title="662c4267863e8cbb17778b78_644b04f44c8b2f4ac76656a5_class_guide_thrs08.png"/>
          <p:cNvPicPr preferRelativeResize="0"/>
          <p:nvPr/>
        </p:nvPicPr>
        <p:blipFill rotWithShape="1">
          <a:blip r:embed="rId3">
            <a:alphaModFix/>
          </a:blip>
          <a:srcRect l="2464" r="4191" b="3465"/>
          <a:stretch/>
        </p:blipFill>
        <p:spPr>
          <a:xfrm>
            <a:off x="389425" y="1994250"/>
            <a:ext cx="4045449" cy="2354600"/>
          </a:xfrm>
          <a:prstGeom prst="rect">
            <a:avLst/>
          </a:prstGeom>
          <a:noFill/>
          <a:ln>
            <a:noFill/>
          </a:ln>
        </p:spPr>
      </p:pic>
      <p:sp>
        <p:nvSpPr>
          <p:cNvPr id="222" name="Google Shape;222;p24"/>
          <p:cNvSpPr txBox="1">
            <a:spLocks noGrp="1"/>
          </p:cNvSpPr>
          <p:nvPr>
            <p:ph type="title"/>
          </p:nvPr>
        </p:nvSpPr>
        <p:spPr>
          <a:xfrm>
            <a:off x="1047725" y="617250"/>
            <a:ext cx="2931000" cy="1377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How We Use the AI Output (Decision Logic)</a:t>
            </a:r>
            <a:endParaRPr/>
          </a:p>
        </p:txBody>
      </p:sp>
      <p:pic>
        <p:nvPicPr>
          <p:cNvPr id="223" name="Google Shape;223;p24" title="EUS.png"/>
          <p:cNvPicPr preferRelativeResize="0"/>
          <p:nvPr/>
        </p:nvPicPr>
        <p:blipFill>
          <a:blip r:embed="rId4">
            <a:alphaModFix amt="25000"/>
          </a:blip>
          <a:stretch>
            <a:fillRect/>
          </a:stretch>
        </p:blipFill>
        <p:spPr>
          <a:xfrm>
            <a:off x="166700" y="190550"/>
            <a:ext cx="881026" cy="8810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5"/>
          <p:cNvSpPr txBox="1">
            <a:spLocks noGrp="1"/>
          </p:cNvSpPr>
          <p:nvPr>
            <p:ph type="title"/>
          </p:nvPr>
        </p:nvSpPr>
        <p:spPr>
          <a:xfrm>
            <a:off x="2018250" y="595575"/>
            <a:ext cx="5107500" cy="8811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Human + AI communications: WebSocket or HTTP</a:t>
            </a:r>
            <a:endParaRPr/>
          </a:p>
        </p:txBody>
      </p:sp>
      <p:pic>
        <p:nvPicPr>
          <p:cNvPr id="229" name="Google Shape;229;p25" title="image-2277.png"/>
          <p:cNvPicPr preferRelativeResize="0"/>
          <p:nvPr/>
        </p:nvPicPr>
        <p:blipFill>
          <a:blip r:embed="rId3">
            <a:alphaModFix/>
          </a:blip>
          <a:stretch>
            <a:fillRect/>
          </a:stretch>
        </p:blipFill>
        <p:spPr>
          <a:xfrm>
            <a:off x="4401500" y="1691650"/>
            <a:ext cx="4355250" cy="2838850"/>
          </a:xfrm>
          <a:prstGeom prst="rect">
            <a:avLst/>
          </a:prstGeom>
          <a:noFill/>
          <a:ln>
            <a:noFill/>
          </a:ln>
        </p:spPr>
      </p:pic>
      <p:sp>
        <p:nvSpPr>
          <p:cNvPr id="230" name="Google Shape;230;p25"/>
          <p:cNvSpPr txBox="1"/>
          <p:nvPr/>
        </p:nvSpPr>
        <p:spPr>
          <a:xfrm>
            <a:off x="664150" y="1757950"/>
            <a:ext cx="3907800" cy="2772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None/>
            </a:pPr>
            <a:r>
              <a:rPr lang="en">
                <a:solidFill>
                  <a:schemeClr val="dk2"/>
                </a:solidFill>
                <a:latin typeface="Calibri"/>
                <a:ea typeface="Calibri"/>
                <a:cs typeface="Calibri"/>
                <a:sym typeface="Calibri"/>
              </a:rPr>
              <a:t>HTTP (OLD telephone)</a:t>
            </a:r>
            <a:endParaRPr>
              <a:solidFill>
                <a:schemeClr val="dk2"/>
              </a:solidFill>
              <a:latin typeface="Calibri"/>
              <a:ea typeface="Calibri"/>
              <a:cs typeface="Calibri"/>
              <a:sym typeface="Calibri"/>
            </a:endParaRPr>
          </a:p>
          <a:p>
            <a:pPr marL="0" marR="0" lvl="0" indent="0" algn="l" rtl="0">
              <a:lnSpc>
                <a:spcPct val="115000"/>
              </a:lnSpc>
              <a:spcBef>
                <a:spcPts val="1200"/>
              </a:spcBef>
              <a:spcAft>
                <a:spcPts val="0"/>
              </a:spcAft>
              <a:buNone/>
            </a:pPr>
            <a:r>
              <a:rPr lang="en" b="1">
                <a:solidFill>
                  <a:schemeClr val="dk2"/>
                </a:solidFill>
                <a:latin typeface="Calibri"/>
                <a:ea typeface="Calibri"/>
                <a:cs typeface="Calibri"/>
                <a:sym typeface="Calibri"/>
              </a:rPr>
              <a:t>One-time request → one-time response</a:t>
            </a:r>
            <a:br>
              <a:rPr lang="en" b="1">
                <a:solidFill>
                  <a:schemeClr val="dk2"/>
                </a:solidFill>
                <a:latin typeface="Calibri"/>
                <a:ea typeface="Calibri"/>
                <a:cs typeface="Calibri"/>
                <a:sym typeface="Calibri"/>
              </a:rPr>
            </a:br>
            <a:endParaRPr b="1">
              <a:solidFill>
                <a:schemeClr val="dk2"/>
              </a:solidFill>
              <a:latin typeface="Calibri"/>
              <a:ea typeface="Calibri"/>
              <a:cs typeface="Calibri"/>
              <a:sym typeface="Calibri"/>
            </a:endParaRPr>
          </a:p>
          <a:p>
            <a:pPr marL="0" marR="0" lvl="0" indent="0" algn="l" rtl="0">
              <a:lnSpc>
                <a:spcPct val="115000"/>
              </a:lnSpc>
              <a:spcBef>
                <a:spcPts val="1200"/>
              </a:spcBef>
              <a:spcAft>
                <a:spcPts val="0"/>
              </a:spcAft>
              <a:buNone/>
            </a:pPr>
            <a:r>
              <a:rPr lang="en">
                <a:solidFill>
                  <a:schemeClr val="dk2"/>
                </a:solidFill>
                <a:latin typeface="Calibri"/>
                <a:ea typeface="Calibri"/>
                <a:cs typeface="Calibri"/>
                <a:sym typeface="Calibri"/>
              </a:rPr>
              <a:t>Connection </a:t>
            </a:r>
            <a:r>
              <a:rPr lang="en" b="1">
                <a:solidFill>
                  <a:schemeClr val="dk2"/>
                </a:solidFill>
                <a:latin typeface="Calibri"/>
                <a:ea typeface="Calibri"/>
                <a:cs typeface="Calibri"/>
                <a:sym typeface="Calibri"/>
              </a:rPr>
              <a:t>closes after each </a:t>
            </a:r>
            <a:r>
              <a:rPr lang="en">
                <a:solidFill>
                  <a:schemeClr val="dk2"/>
                </a:solidFill>
                <a:latin typeface="Calibri"/>
                <a:ea typeface="Calibri"/>
                <a:cs typeface="Calibri"/>
                <a:sym typeface="Calibri"/>
              </a:rPr>
              <a:t>message</a:t>
            </a:r>
            <a:br>
              <a:rPr lang="en">
                <a:solidFill>
                  <a:schemeClr val="dk2"/>
                </a:solidFill>
                <a:latin typeface="Calibri"/>
                <a:ea typeface="Calibri"/>
                <a:cs typeface="Calibri"/>
                <a:sym typeface="Calibri"/>
              </a:rPr>
            </a:br>
            <a:endParaRPr>
              <a:solidFill>
                <a:schemeClr val="dk2"/>
              </a:solidFill>
              <a:latin typeface="Calibri"/>
              <a:ea typeface="Calibri"/>
              <a:cs typeface="Calibri"/>
              <a:sym typeface="Calibri"/>
            </a:endParaRPr>
          </a:p>
          <a:p>
            <a:pPr marL="0" marR="0" lvl="0" indent="0" algn="l" rtl="0">
              <a:lnSpc>
                <a:spcPct val="115000"/>
              </a:lnSpc>
              <a:spcBef>
                <a:spcPts val="1200"/>
              </a:spcBef>
              <a:spcAft>
                <a:spcPts val="1200"/>
              </a:spcAft>
              <a:buNone/>
            </a:pPr>
            <a:r>
              <a:rPr lang="en">
                <a:solidFill>
                  <a:schemeClr val="dk2"/>
                </a:solidFill>
                <a:latin typeface="Calibri"/>
                <a:ea typeface="Calibri"/>
                <a:cs typeface="Calibri"/>
                <a:sym typeface="Calibri"/>
              </a:rPr>
              <a:t>Good for: forms, loading pages, downloading files</a:t>
            </a:r>
            <a:endParaRPr>
              <a:solidFill>
                <a:schemeClr val="dk2"/>
              </a:solidFill>
              <a:latin typeface="Calibri"/>
              <a:ea typeface="Calibri"/>
              <a:cs typeface="Calibri"/>
              <a:sym typeface="Calibri"/>
            </a:endParaRPr>
          </a:p>
        </p:txBody>
      </p:sp>
      <p:pic>
        <p:nvPicPr>
          <p:cNvPr id="231" name="Google Shape;231;p25" title="EUS.png"/>
          <p:cNvPicPr preferRelativeResize="0"/>
          <p:nvPr/>
        </p:nvPicPr>
        <p:blipFill>
          <a:blip r:embed="rId4">
            <a:alphaModFix amt="25000"/>
          </a:blip>
          <a:stretch>
            <a:fillRect/>
          </a:stretch>
        </p:blipFill>
        <p:spPr>
          <a:xfrm>
            <a:off x="166700" y="190550"/>
            <a:ext cx="881026" cy="8810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26" title="d58bb11f-3727-4ed2-bcbd-dbffe55069c7_1076x1086.jpg"/>
          <p:cNvPicPr preferRelativeResize="0"/>
          <p:nvPr/>
        </p:nvPicPr>
        <p:blipFill rotWithShape="1">
          <a:blip r:embed="rId3">
            <a:alphaModFix/>
          </a:blip>
          <a:srcRect t="10634"/>
          <a:stretch/>
        </p:blipFill>
        <p:spPr>
          <a:xfrm>
            <a:off x="4947650" y="909425"/>
            <a:ext cx="3686099" cy="3324651"/>
          </a:xfrm>
          <a:prstGeom prst="rect">
            <a:avLst/>
          </a:prstGeom>
          <a:noFill/>
          <a:ln>
            <a:noFill/>
          </a:ln>
        </p:spPr>
      </p:pic>
      <p:sp>
        <p:nvSpPr>
          <p:cNvPr id="237" name="Google Shape;237;p26"/>
          <p:cNvSpPr txBox="1">
            <a:spLocks noGrp="1"/>
          </p:cNvSpPr>
          <p:nvPr>
            <p:ph type="body" idx="1"/>
          </p:nvPr>
        </p:nvSpPr>
        <p:spPr>
          <a:xfrm>
            <a:off x="804575" y="1146675"/>
            <a:ext cx="4497000" cy="3551400"/>
          </a:xfrm>
          <a:prstGeom prst="rect">
            <a:avLst/>
          </a:prstGeom>
        </p:spPr>
        <p:txBody>
          <a:bodyPr spcFirstLastPara="1" wrap="square" lIns="91425" tIns="91425" rIns="91425" bIns="91425" anchor="t" anchorCtr="0">
            <a:normAutofit/>
          </a:bodyPr>
          <a:lstStyle/>
          <a:p>
            <a:pPr marL="0" marR="0" lvl="0" indent="0" algn="l" rtl="0">
              <a:lnSpc>
                <a:spcPct val="115000"/>
              </a:lnSpc>
              <a:spcBef>
                <a:spcPts val="1200"/>
              </a:spcBef>
              <a:spcAft>
                <a:spcPts val="0"/>
              </a:spcAft>
              <a:buNone/>
            </a:pPr>
            <a:r>
              <a:rPr lang="en" sz="1400"/>
              <a:t>WebSocket(iPhone)</a:t>
            </a:r>
            <a:endParaRPr sz="1400"/>
          </a:p>
          <a:p>
            <a:pPr marL="457200" marR="0" lvl="0" indent="-317500" algn="l" rtl="0">
              <a:lnSpc>
                <a:spcPct val="150000"/>
              </a:lnSpc>
              <a:spcBef>
                <a:spcPts val="1200"/>
              </a:spcBef>
              <a:spcAft>
                <a:spcPts val="0"/>
              </a:spcAft>
              <a:buSzPts val="1400"/>
              <a:buChar char="❖"/>
            </a:pPr>
            <a:r>
              <a:rPr lang="en" sz="1400"/>
              <a:t>Client &amp; server connect once → </a:t>
            </a:r>
            <a:r>
              <a:rPr lang="en" sz="1400" b="1"/>
              <a:t>stay connected</a:t>
            </a:r>
            <a:endParaRPr sz="1400" b="1"/>
          </a:p>
          <a:p>
            <a:pPr marL="457200" marR="0" lvl="0" indent="-317500" algn="l" rtl="0">
              <a:lnSpc>
                <a:spcPct val="150000"/>
              </a:lnSpc>
              <a:spcBef>
                <a:spcPts val="0"/>
              </a:spcBef>
              <a:spcAft>
                <a:spcPts val="0"/>
              </a:spcAft>
              <a:buSzPts val="1400"/>
              <a:buChar char="❖"/>
            </a:pPr>
            <a:r>
              <a:rPr lang="en" sz="1400"/>
              <a:t>Can send </a:t>
            </a:r>
            <a:r>
              <a:rPr lang="en" sz="1400" b="1"/>
              <a:t>messages both directions anytime</a:t>
            </a:r>
            <a:endParaRPr sz="1400"/>
          </a:p>
          <a:p>
            <a:pPr marL="457200" marR="0" lvl="0" indent="-317500" algn="l" rtl="0">
              <a:lnSpc>
                <a:spcPct val="150000"/>
              </a:lnSpc>
              <a:spcBef>
                <a:spcPts val="0"/>
              </a:spcBef>
              <a:spcAft>
                <a:spcPts val="0"/>
              </a:spcAft>
              <a:buSzPts val="1400"/>
              <a:buChar char="❖"/>
            </a:pPr>
            <a:r>
              <a:rPr lang="en" sz="1400"/>
              <a:t>Good for: real-time apps (games, video chat, gesture tracking, collaboration)</a:t>
            </a:r>
            <a:endParaRPr sz="1400"/>
          </a:p>
          <a:p>
            <a:pPr marL="0" lvl="0" indent="0" algn="l" rtl="0">
              <a:spcBef>
                <a:spcPts val="1200"/>
              </a:spcBef>
              <a:spcAft>
                <a:spcPts val="0"/>
              </a:spcAft>
              <a:buNone/>
            </a:pPr>
            <a:r>
              <a:rPr lang="en" sz="1400" b="1"/>
              <a:t>Our project:</a:t>
            </a:r>
            <a:endParaRPr sz="1400" b="1"/>
          </a:p>
          <a:p>
            <a:pPr marL="457200" lvl="0" indent="-317500" algn="l" rtl="0">
              <a:lnSpc>
                <a:spcPct val="150000"/>
              </a:lnSpc>
              <a:spcBef>
                <a:spcPts val="1200"/>
              </a:spcBef>
              <a:spcAft>
                <a:spcPts val="0"/>
              </a:spcAft>
              <a:buSzPts val="1400"/>
              <a:buChar char="❖"/>
            </a:pPr>
            <a:r>
              <a:rPr lang="en" sz="1400"/>
              <a:t>Camera sends many hand-tracking frames per second → We need </a:t>
            </a:r>
            <a:r>
              <a:rPr lang="en" sz="1400" b="1"/>
              <a:t>continuous, fast communication</a:t>
            </a:r>
            <a:r>
              <a:rPr lang="en" sz="1400"/>
              <a:t> → </a:t>
            </a:r>
            <a:r>
              <a:rPr lang="en" sz="1400" b="1"/>
              <a:t>WebSocket is the better choice</a:t>
            </a:r>
            <a:endParaRPr sz="1400"/>
          </a:p>
        </p:txBody>
      </p:sp>
      <p:sp>
        <p:nvSpPr>
          <p:cNvPr id="238" name="Google Shape;238;p26"/>
          <p:cNvSpPr txBox="1">
            <a:spLocks noGrp="1"/>
          </p:cNvSpPr>
          <p:nvPr>
            <p:ph type="title"/>
          </p:nvPr>
        </p:nvSpPr>
        <p:spPr>
          <a:xfrm>
            <a:off x="1648625" y="480775"/>
            <a:ext cx="2665200" cy="75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WebSockets</a:t>
            </a:r>
            <a:endParaRPr/>
          </a:p>
        </p:txBody>
      </p:sp>
      <p:pic>
        <p:nvPicPr>
          <p:cNvPr id="239" name="Google Shape;239;p26" title="EUS.png"/>
          <p:cNvPicPr preferRelativeResize="0"/>
          <p:nvPr/>
        </p:nvPicPr>
        <p:blipFill>
          <a:blip r:embed="rId4">
            <a:alphaModFix amt="25000"/>
          </a:blip>
          <a:stretch>
            <a:fillRect/>
          </a:stretch>
        </p:blipFill>
        <p:spPr>
          <a:xfrm>
            <a:off x="166700" y="190550"/>
            <a:ext cx="881026" cy="8810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27" title="Ylc2deIBk.png"/>
          <p:cNvPicPr preferRelativeResize="0"/>
          <p:nvPr/>
        </p:nvPicPr>
        <p:blipFill rotWithShape="1">
          <a:blip r:embed="rId3">
            <a:alphaModFix/>
          </a:blip>
          <a:srcRect l="18319" t="33761" r="19219"/>
          <a:stretch/>
        </p:blipFill>
        <p:spPr>
          <a:xfrm>
            <a:off x="525875" y="1954713"/>
            <a:ext cx="4274824" cy="2379951"/>
          </a:xfrm>
          <a:prstGeom prst="rect">
            <a:avLst/>
          </a:prstGeom>
          <a:noFill/>
          <a:ln>
            <a:noFill/>
          </a:ln>
        </p:spPr>
      </p:pic>
      <p:sp>
        <p:nvSpPr>
          <p:cNvPr id="245" name="Google Shape;245;p27"/>
          <p:cNvSpPr txBox="1">
            <a:spLocks noGrp="1"/>
          </p:cNvSpPr>
          <p:nvPr>
            <p:ph type="body" idx="2"/>
          </p:nvPr>
        </p:nvSpPr>
        <p:spPr>
          <a:xfrm>
            <a:off x="4800700" y="651600"/>
            <a:ext cx="4052100" cy="3840300"/>
          </a:xfrm>
          <a:prstGeom prst="rect">
            <a:avLst/>
          </a:prstGeom>
        </p:spPr>
        <p:txBody>
          <a:bodyPr spcFirstLastPara="1" wrap="square" lIns="91425" tIns="91425" rIns="91425" bIns="91425" anchor="t" anchorCtr="0">
            <a:normAutofit/>
          </a:bodyPr>
          <a:lstStyle/>
          <a:p>
            <a:pPr marL="0" marR="0" lvl="0" indent="0" algn="l" rtl="0">
              <a:lnSpc>
                <a:spcPct val="115000"/>
              </a:lnSpc>
              <a:spcBef>
                <a:spcPts val="1200"/>
              </a:spcBef>
              <a:spcAft>
                <a:spcPts val="0"/>
              </a:spcAft>
              <a:buNone/>
            </a:pPr>
            <a:r>
              <a:rPr lang="en" sz="1400" b="1"/>
              <a:t>Cross-Origin (CORS) - Why WebSocket Sometimes Gets Blocked </a:t>
            </a:r>
            <a:endParaRPr sz="1400"/>
          </a:p>
          <a:p>
            <a:pPr marL="0" marR="0" lvl="0" indent="0" algn="l" rtl="0">
              <a:lnSpc>
                <a:spcPct val="115000"/>
              </a:lnSpc>
              <a:spcBef>
                <a:spcPts val="1200"/>
              </a:spcBef>
              <a:spcAft>
                <a:spcPts val="0"/>
              </a:spcAft>
              <a:buNone/>
            </a:pPr>
            <a:r>
              <a:rPr lang="en" sz="1400"/>
              <a:t>Even if your front-end and back-end are both on Render, they have </a:t>
            </a:r>
            <a:r>
              <a:rPr lang="en" sz="1400" b="1"/>
              <a:t>different URLs</a:t>
            </a:r>
            <a:r>
              <a:rPr lang="en" sz="1400"/>
              <a:t>, so they count as being from “</a:t>
            </a:r>
            <a:r>
              <a:rPr lang="en" sz="1400" b="1"/>
              <a:t>different places</a:t>
            </a:r>
            <a:r>
              <a:rPr lang="en" sz="1400"/>
              <a:t>.”</a:t>
            </a:r>
            <a:br>
              <a:rPr lang="en" sz="1400"/>
            </a:br>
            <a:br>
              <a:rPr lang="en" sz="1400"/>
            </a:br>
            <a:r>
              <a:rPr lang="en" sz="1400"/>
              <a:t>The browser says:</a:t>
            </a:r>
            <a:endParaRPr sz="1400"/>
          </a:p>
          <a:p>
            <a:pPr marL="0" marR="0" lvl="0" indent="457200" algn="l" rtl="0">
              <a:lnSpc>
                <a:spcPct val="115000"/>
              </a:lnSpc>
              <a:spcBef>
                <a:spcPts val="1200"/>
              </a:spcBef>
              <a:spcAft>
                <a:spcPts val="0"/>
              </a:spcAft>
              <a:buNone/>
            </a:pPr>
            <a:r>
              <a:rPr lang="en" sz="1400"/>
              <a:t>“Are you sure you’re allowed to connect?”</a:t>
            </a:r>
            <a:endParaRPr sz="1400"/>
          </a:p>
          <a:p>
            <a:pPr marL="0" marR="0" lvl="0" indent="0" algn="l" rtl="0">
              <a:lnSpc>
                <a:spcPct val="115000"/>
              </a:lnSpc>
              <a:spcBef>
                <a:spcPts val="1200"/>
              </a:spcBef>
              <a:spcAft>
                <a:spcPts val="0"/>
              </a:spcAft>
              <a:buNone/>
            </a:pPr>
            <a:r>
              <a:rPr lang="en" sz="1400"/>
              <a:t>To fix this, your server must say:</a:t>
            </a:r>
            <a:br>
              <a:rPr lang="en" sz="1400"/>
            </a:br>
            <a:br>
              <a:rPr lang="en" sz="1400"/>
            </a:br>
            <a:r>
              <a:rPr lang="en" sz="1400"/>
              <a:t> 	“Yes, I allow connections from this front-end!”</a:t>
            </a:r>
            <a:endParaRPr sz="1400"/>
          </a:p>
          <a:p>
            <a:pPr marL="0" marR="0" lvl="0" indent="0" algn="l" rtl="0">
              <a:lnSpc>
                <a:spcPct val="115000"/>
              </a:lnSpc>
              <a:spcBef>
                <a:spcPts val="1200"/>
              </a:spcBef>
              <a:spcAft>
                <a:spcPts val="1200"/>
              </a:spcAft>
              <a:buNone/>
            </a:pPr>
            <a:r>
              <a:rPr lang="en" sz="1400"/>
              <a:t>This is called CORS — a </a:t>
            </a:r>
            <a:r>
              <a:rPr lang="en" sz="1400" b="1"/>
              <a:t>browser safety rule.</a:t>
            </a:r>
            <a:endParaRPr sz="1400"/>
          </a:p>
        </p:txBody>
      </p:sp>
      <p:sp>
        <p:nvSpPr>
          <p:cNvPr id="246" name="Google Shape;246;p27"/>
          <p:cNvSpPr txBox="1">
            <a:spLocks noGrp="1"/>
          </p:cNvSpPr>
          <p:nvPr>
            <p:ph type="title"/>
          </p:nvPr>
        </p:nvSpPr>
        <p:spPr>
          <a:xfrm>
            <a:off x="797375" y="808838"/>
            <a:ext cx="3897900" cy="1109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CORS Explained for Beginners</a:t>
            </a:r>
            <a:endParaRPr/>
          </a:p>
        </p:txBody>
      </p:sp>
      <p:pic>
        <p:nvPicPr>
          <p:cNvPr id="247" name="Google Shape;247;p27" title="EUS.png"/>
          <p:cNvPicPr preferRelativeResize="0"/>
          <p:nvPr/>
        </p:nvPicPr>
        <p:blipFill>
          <a:blip r:embed="rId4">
            <a:alphaModFix amt="25000"/>
          </a:blip>
          <a:stretch>
            <a:fillRect/>
          </a:stretch>
        </p:blipFill>
        <p:spPr>
          <a:xfrm>
            <a:off x="166700" y="190550"/>
            <a:ext cx="881026" cy="8810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8"/>
          <p:cNvSpPr txBox="1">
            <a:spLocks noGrp="1"/>
          </p:cNvSpPr>
          <p:nvPr>
            <p:ph type="title"/>
          </p:nvPr>
        </p:nvSpPr>
        <p:spPr>
          <a:xfrm>
            <a:off x="1702949" y="1748700"/>
            <a:ext cx="5738100" cy="1646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4400">
                <a:solidFill>
                  <a:schemeClr val="dk1"/>
                </a:solidFill>
              </a:rPr>
              <a:t>Try Out Our Project!</a:t>
            </a:r>
            <a:endParaRPr sz="4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9"/>
          <p:cNvSpPr txBox="1">
            <a:spLocks noGrp="1"/>
          </p:cNvSpPr>
          <p:nvPr>
            <p:ph type="title"/>
          </p:nvPr>
        </p:nvSpPr>
        <p:spPr>
          <a:xfrm>
            <a:off x="819150" y="845600"/>
            <a:ext cx="3709200" cy="1110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Head to the Website</a:t>
            </a:r>
            <a:endParaRPr/>
          </a:p>
        </p:txBody>
      </p:sp>
      <p:sp>
        <p:nvSpPr>
          <p:cNvPr id="258" name="Google Shape;258;p29"/>
          <p:cNvSpPr txBox="1">
            <a:spLocks noGrp="1"/>
          </p:cNvSpPr>
          <p:nvPr>
            <p:ph type="body" idx="1"/>
          </p:nvPr>
        </p:nvSpPr>
        <p:spPr>
          <a:xfrm>
            <a:off x="748150" y="1955600"/>
            <a:ext cx="3612900" cy="2604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u="sng">
                <a:solidFill>
                  <a:schemeClr val="hlink"/>
                </a:solidFill>
                <a:hlinkClick r:id="rId3"/>
              </a:rPr>
              <a:t>https://gesture-control-xli6.onrender.com</a:t>
            </a:r>
            <a:r>
              <a:rPr lang="en" sz="1500"/>
              <a:t> </a:t>
            </a:r>
            <a:endParaRPr sz="1500"/>
          </a:p>
          <a:p>
            <a:pPr marL="457200" lvl="0" indent="-323850" algn="l" rtl="0">
              <a:spcBef>
                <a:spcPts val="1200"/>
              </a:spcBef>
              <a:spcAft>
                <a:spcPts val="0"/>
              </a:spcAft>
              <a:buSzPts val="1500"/>
              <a:buAutoNum type="arabicPeriod"/>
            </a:pPr>
            <a:r>
              <a:rPr lang="en" sz="1500"/>
              <a:t>At the drop-down, select ‘Webcam’</a:t>
            </a:r>
            <a:endParaRPr sz="1500"/>
          </a:p>
          <a:p>
            <a:pPr marL="457200" lvl="0" indent="-323850" algn="l" rtl="0">
              <a:spcBef>
                <a:spcPts val="0"/>
              </a:spcBef>
              <a:spcAft>
                <a:spcPts val="0"/>
              </a:spcAft>
              <a:buSzPts val="1500"/>
              <a:buAutoNum type="arabicPeriod"/>
            </a:pPr>
            <a:r>
              <a:rPr lang="en" sz="1500"/>
              <a:t>Click ‘Start Camera’</a:t>
            </a:r>
            <a:endParaRPr sz="1500"/>
          </a:p>
          <a:p>
            <a:pPr marL="457200" lvl="0" indent="-323850" algn="l" rtl="0">
              <a:spcBef>
                <a:spcPts val="0"/>
              </a:spcBef>
              <a:spcAft>
                <a:spcPts val="0"/>
              </a:spcAft>
              <a:buSzPts val="1500"/>
              <a:buAutoNum type="arabicPeriod"/>
            </a:pPr>
            <a:r>
              <a:rPr lang="en" sz="1500"/>
              <a:t>Use the ASL alphabet picture while playing with the camera.</a:t>
            </a:r>
            <a:endParaRPr sz="1500"/>
          </a:p>
          <a:p>
            <a:pPr marL="457200" lvl="0" indent="-323850" algn="l" rtl="0">
              <a:spcBef>
                <a:spcPts val="0"/>
              </a:spcBef>
              <a:spcAft>
                <a:spcPts val="0"/>
              </a:spcAft>
              <a:buSzPts val="1500"/>
              <a:buAutoNum type="arabicPeriod"/>
            </a:pPr>
            <a:r>
              <a:rPr lang="en" sz="1500"/>
              <a:t>Have Fun! Try A to E. 😊</a:t>
            </a:r>
            <a:endParaRPr sz="1500"/>
          </a:p>
        </p:txBody>
      </p:sp>
      <p:pic>
        <p:nvPicPr>
          <p:cNvPr id="259" name="Google Shape;259;p29" title="EUS.png"/>
          <p:cNvPicPr preferRelativeResize="0"/>
          <p:nvPr/>
        </p:nvPicPr>
        <p:blipFill>
          <a:blip r:embed="rId4">
            <a:alphaModFix amt="25000"/>
          </a:blip>
          <a:stretch>
            <a:fillRect/>
          </a:stretch>
        </p:blipFill>
        <p:spPr>
          <a:xfrm>
            <a:off x="166700" y="190550"/>
            <a:ext cx="881026" cy="881026"/>
          </a:xfrm>
          <a:prstGeom prst="rect">
            <a:avLst/>
          </a:prstGeom>
          <a:noFill/>
          <a:ln>
            <a:noFill/>
          </a:ln>
        </p:spPr>
      </p:pic>
      <p:pic>
        <p:nvPicPr>
          <p:cNvPr id="260" name="Google Shape;260;p29" title="屏幕截图 2025-11-04 125846.png"/>
          <p:cNvPicPr preferRelativeResize="0"/>
          <p:nvPr/>
        </p:nvPicPr>
        <p:blipFill rotWithShape="1">
          <a:blip r:embed="rId5">
            <a:alphaModFix/>
          </a:blip>
          <a:srcRect t="4415"/>
          <a:stretch/>
        </p:blipFill>
        <p:spPr>
          <a:xfrm>
            <a:off x="4360950" y="1313700"/>
            <a:ext cx="4553500" cy="2516109"/>
          </a:xfrm>
          <a:prstGeom prst="rect">
            <a:avLst/>
          </a:prstGeom>
          <a:noFill/>
          <a:ln>
            <a:noFill/>
          </a:ln>
        </p:spPr>
      </p:pic>
      <p:sp>
        <p:nvSpPr>
          <p:cNvPr id="261" name="Google Shape;261;p29"/>
          <p:cNvSpPr/>
          <p:nvPr/>
        </p:nvSpPr>
        <p:spPr>
          <a:xfrm>
            <a:off x="5562238" y="1832250"/>
            <a:ext cx="1902900" cy="1479000"/>
          </a:xfrm>
          <a:prstGeom prst="ellipse">
            <a:avLst/>
          </a:prstGeom>
          <a:noFill/>
          <a:ln w="1143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62" name="Google Shape;262;p29"/>
          <p:cNvSpPr/>
          <p:nvPr/>
        </p:nvSpPr>
        <p:spPr>
          <a:xfrm>
            <a:off x="7957000" y="1071575"/>
            <a:ext cx="1117500" cy="1064100"/>
          </a:xfrm>
          <a:prstGeom prst="ellipse">
            <a:avLst/>
          </a:prstGeom>
          <a:noFill/>
          <a:ln w="1143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1"/>
          <p:cNvSpPr txBox="1">
            <a:spLocks noGrp="1"/>
          </p:cNvSpPr>
          <p:nvPr>
            <p:ph type="ctrTitle"/>
          </p:nvPr>
        </p:nvSpPr>
        <p:spPr>
          <a:xfrm>
            <a:off x="1891353" y="1515321"/>
            <a:ext cx="5361300" cy="1448100"/>
          </a:xfrm>
          <a:prstGeom prst="rect">
            <a:avLst/>
          </a:prstGeom>
          <a:effectLst>
            <a:outerShdw blurRad="57150" dist="19050" dir="5400000" algn="bl" rotWithShape="0">
              <a:srgbClr val="FFD966">
                <a:alpha val="50000"/>
              </a:srgbClr>
            </a:outerShdw>
          </a:effectLst>
        </p:spPr>
        <p:txBody>
          <a:bodyPr spcFirstLastPara="1" wrap="square" lIns="91425" tIns="91425" rIns="91425" bIns="91425" anchor="ctr" anchorCtr="0">
            <a:normAutofit/>
          </a:bodyPr>
          <a:lstStyle/>
          <a:p>
            <a:pPr marL="0" lvl="0" indent="0" algn="ctr" rtl="0">
              <a:spcBef>
                <a:spcPts val="0"/>
              </a:spcBef>
              <a:spcAft>
                <a:spcPts val="0"/>
              </a:spcAft>
              <a:buNone/>
            </a:pPr>
            <a:r>
              <a:rPr lang="en" sz="4800"/>
              <a:t>Thanks for coming!</a:t>
            </a:r>
            <a:endParaRPr/>
          </a:p>
        </p:txBody>
      </p:sp>
      <p:sp>
        <p:nvSpPr>
          <p:cNvPr id="275" name="Google Shape;275;p31"/>
          <p:cNvSpPr txBox="1">
            <a:spLocks noGrp="1"/>
          </p:cNvSpPr>
          <p:nvPr>
            <p:ph type="subTitle" idx="1"/>
          </p:nvPr>
        </p:nvSpPr>
        <p:spPr>
          <a:xfrm>
            <a:off x="1891350" y="2571738"/>
            <a:ext cx="5361300" cy="842400"/>
          </a:xfrm>
          <a:prstGeom prst="rect">
            <a:avLst/>
          </a:prstGeom>
          <a:effectLst>
            <a:outerShdw blurRad="57150" dist="19050" dir="5400000" algn="bl" rotWithShape="0">
              <a:srgbClr val="FFD966">
                <a:alpha val="5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 sz="2900" i="1">
                <a:solidFill>
                  <a:srgbClr val="D9BDA7"/>
                </a:solidFill>
                <a:latin typeface="Nunito"/>
                <a:ea typeface="Nunito"/>
                <a:cs typeface="Nunito"/>
                <a:sym typeface="Nunito"/>
              </a:rPr>
              <a:t>Any questions?</a:t>
            </a:r>
            <a:endParaRPr sz="2900" i="1">
              <a:solidFill>
                <a:srgbClr val="D9BDA7"/>
              </a:solidFill>
              <a:latin typeface="Nunito"/>
              <a:ea typeface="Nunito"/>
              <a:cs typeface="Nunito"/>
              <a:sym typeface="Nunito"/>
            </a:endParaRPr>
          </a:p>
          <a:p>
            <a:pPr marL="0" lvl="0" indent="0" algn="ctr" rtl="0">
              <a:spcBef>
                <a:spcPts val="0"/>
              </a:spcBef>
              <a:spcAft>
                <a:spcPts val="0"/>
              </a:spcAft>
              <a:buNone/>
            </a:pPr>
            <a:endParaRPr sz="2900" i="1">
              <a:solidFill>
                <a:srgbClr val="D9BDA7"/>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1673</Words>
  <Application>Microsoft Office PowerPoint</Application>
  <PresentationFormat>On-screen Show (16:9)</PresentationFormat>
  <Paragraphs>124</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Arial</vt:lpstr>
      <vt:lpstr>Roboto Mono</vt:lpstr>
      <vt:lpstr>Nunito</vt:lpstr>
      <vt:lpstr>Shift</vt:lpstr>
      <vt:lpstr>PowerPoint Presentation</vt:lpstr>
      <vt:lpstr>Meet Us</vt:lpstr>
      <vt:lpstr>About TAP</vt:lpstr>
      <vt:lpstr>Our Goals</vt:lpstr>
      <vt:lpstr>Hand Recognition</vt:lpstr>
      <vt:lpstr>The AI</vt:lpstr>
      <vt:lpstr>KNN (K-Nearest Neighbors)</vt:lpstr>
      <vt:lpstr>PowerPoint Presentation</vt:lpstr>
      <vt:lpstr>PowerPoint Presentation</vt:lpstr>
      <vt:lpstr>PowerPoint Presentation</vt:lpstr>
      <vt:lpstr>How We Use the AI Output (Decision Logic)</vt:lpstr>
      <vt:lpstr>Human + AI communications: WebSocket or HTTP</vt:lpstr>
      <vt:lpstr>WebSockets</vt:lpstr>
      <vt:lpstr>CORS Explained for Beginners</vt:lpstr>
      <vt:lpstr>Try Out Our Project!</vt:lpstr>
      <vt:lpstr>Head to the Website</vt:lpstr>
      <vt:lpstr>Thanks for coming!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Joey Chen</cp:lastModifiedBy>
  <cp:revision>1</cp:revision>
  <dcterms:modified xsi:type="dcterms:W3CDTF">2025-12-09T17:18:51Z</dcterms:modified>
</cp:coreProperties>
</file>